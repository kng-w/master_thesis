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4" r:id="rId9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89E"/>
    <a:srgbClr val="F57A84"/>
    <a:srgbClr val="3F3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55"/>
    <p:restoredTop sz="96966"/>
  </p:normalViewPr>
  <p:slideViewPr>
    <p:cSldViewPr snapToGrid="0">
      <p:cViewPr>
        <p:scale>
          <a:sx n="41" d="100"/>
          <a:sy n="41" d="100"/>
        </p:scale>
        <p:origin x="29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0998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94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0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6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52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70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85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88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97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93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05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DB33D-4073-1644-B7F1-38796F3DB1D8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2F648-16EE-B241-B35C-E4A91F5F0A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17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emf"/><Relationship Id="rId7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1.png"/><Relationship Id="rId7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jpg"/><Relationship Id="rId7" Type="http://schemas.openxmlformats.org/officeDocument/2006/relationships/image" Target="../media/image3.png"/><Relationship Id="rId12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9.pn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8.jp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9" y="7124814"/>
            <a:ext cx="14310580" cy="1674755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6001129" y="3500482"/>
            <a:ext cx="182729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54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85AE58-FD29-FD13-68CE-36BCB0E638C5}"/>
              </a:ext>
            </a:extLst>
          </p:cNvPr>
          <p:cNvSpPr txBox="1"/>
          <p:nvPr/>
        </p:nvSpPr>
        <p:spPr>
          <a:xfrm>
            <a:off x="1765612" y="25571109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提案手法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EC5D70-7633-736A-D97E-D66F38D6EBA8}"/>
              </a:ext>
            </a:extLst>
          </p:cNvPr>
          <p:cNvSpPr txBox="1"/>
          <p:nvPr/>
        </p:nvSpPr>
        <p:spPr>
          <a:xfrm>
            <a:off x="17366583" y="22723187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結果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89F6AB-DAA6-B893-8114-CC7415396383}"/>
              </a:ext>
            </a:extLst>
          </p:cNvPr>
          <p:cNvSpPr txBox="1"/>
          <p:nvPr/>
        </p:nvSpPr>
        <p:spPr>
          <a:xfrm>
            <a:off x="11375385" y="35041382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参考文献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E188BA-46D9-F353-47D1-176886FD5D83}"/>
              </a:ext>
            </a:extLst>
          </p:cNvPr>
          <p:cNvSpPr txBox="1"/>
          <p:nvPr/>
        </p:nvSpPr>
        <p:spPr>
          <a:xfrm>
            <a:off x="13632413" y="41264870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謝辞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719E80-4396-6D8C-E6D6-B7A66D3C7734}"/>
              </a:ext>
            </a:extLst>
          </p:cNvPr>
          <p:cNvSpPr txBox="1"/>
          <p:nvPr/>
        </p:nvSpPr>
        <p:spPr>
          <a:xfrm>
            <a:off x="1963063" y="10857045"/>
            <a:ext cx="11641328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物語のプロット創作後にキャラデザを行う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</a:t>
            </a:r>
            <a:r>
              <a:rPr kumimoji="1" lang="ja-JP" altLang="en-US" sz="4000">
                <a:solidFill>
                  <a:srgbClr val="0070C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プロットに矛盾しないデザイン案の生成</a:t>
            </a:r>
            <a:endParaRPr kumimoji="1" lang="en-US" altLang="ja-JP" sz="4000" dirty="0">
              <a:solidFill>
                <a:srgbClr val="0070C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クリエイターが思いつかないデザインの提案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</a:t>
            </a:r>
            <a:r>
              <a:rPr kumimoji="1" lang="ja-JP" altLang="en-US" sz="40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意外性を持ったデザイン案の生成</a:t>
            </a:r>
            <a:endParaRPr kumimoji="1" lang="en-US" altLang="ja-JP" sz="4000" dirty="0">
              <a:solidFill>
                <a:srgbClr val="FF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20" name="Picture 26">
            <a:extLst>
              <a:ext uri="{FF2B5EF4-FFF2-40B4-BE49-F238E27FC236}">
                <a16:creationId xmlns:a16="http://schemas.microsoft.com/office/drawing/2014/main" id="{1D6823E6-D284-F370-9849-5DDAB2686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69" y="29290632"/>
            <a:ext cx="11566761" cy="7225220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6C43EF9-E41B-FD37-7A6C-C0ABF7AEE4AD}"/>
              </a:ext>
            </a:extLst>
          </p:cNvPr>
          <p:cNvSpPr txBox="1"/>
          <p:nvPr/>
        </p:nvSpPr>
        <p:spPr>
          <a:xfrm>
            <a:off x="3328493" y="27541746"/>
            <a:ext cx="64155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タグによる条件入力</a:t>
            </a:r>
            <a:r>
              <a:rPr kumimoji="1" lang="en-US" altLang="ja-JP" sz="4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UI</a:t>
            </a:r>
            <a:endParaRPr kumimoji="1" lang="ja-JP" altLang="en-US" sz="4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pic>
        <p:nvPicPr>
          <p:cNvPr id="23" name="図 2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90E174E4-442F-E16C-B635-8189434FA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864" y="13640530"/>
            <a:ext cx="12627565" cy="7013923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D023407-4D4E-7BA6-2483-734602034A62}"/>
              </a:ext>
            </a:extLst>
          </p:cNvPr>
          <p:cNvSpPr txBox="1"/>
          <p:nvPr/>
        </p:nvSpPr>
        <p:spPr>
          <a:xfrm>
            <a:off x="19277535" y="20654453"/>
            <a:ext cx="6955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タグの数：</a:t>
            </a:r>
            <a:r>
              <a:rPr kumimoji="1" lang="en-US" altLang="ja-JP" sz="4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374</a:t>
            </a:r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こ</a:t>
            </a:r>
            <a:endParaRPr kumimoji="1" lang="en-US" altLang="ja-JP" sz="4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ランダム生成：提案手法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C90EAE4-477D-E99D-1689-7A1F11209D2E}"/>
              </a:ext>
            </a:extLst>
          </p:cNvPr>
          <p:cNvSpPr txBox="1"/>
          <p:nvPr/>
        </p:nvSpPr>
        <p:spPr>
          <a:xfrm>
            <a:off x="17366583" y="10745304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データセット、モデルの説明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EF53A91-CA5A-03E6-8B88-4822F6A3380D}"/>
              </a:ext>
            </a:extLst>
          </p:cNvPr>
          <p:cNvSpPr txBox="1"/>
          <p:nvPr/>
        </p:nvSpPr>
        <p:spPr>
          <a:xfrm>
            <a:off x="17366582" y="2449298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定性評価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DBE0466-C75C-2E5F-2408-45BD6BBF431D}"/>
              </a:ext>
            </a:extLst>
          </p:cNvPr>
          <p:cNvSpPr txBox="1"/>
          <p:nvPr/>
        </p:nvSpPr>
        <p:spPr>
          <a:xfrm>
            <a:off x="16535585" y="29343614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ユーザーフィードバック</a:t>
            </a:r>
          </a:p>
        </p:txBody>
      </p:sp>
      <p:pic>
        <p:nvPicPr>
          <p:cNvPr id="30" name="図 29" descr="テーブル&#10;&#10;自動的に生成された説明">
            <a:extLst>
              <a:ext uri="{FF2B5EF4-FFF2-40B4-BE49-F238E27FC236}">
                <a16:creationId xmlns:a16="http://schemas.microsoft.com/office/drawing/2014/main" id="{2A78DD03-4CD0-F107-E27E-C02450376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8429" y="31074085"/>
            <a:ext cx="9522393" cy="4397105"/>
          </a:xfrm>
          <a:prstGeom prst="rect">
            <a:avLst/>
          </a:prstGeom>
        </p:spPr>
      </p:pic>
      <p:pic>
        <p:nvPicPr>
          <p:cNvPr id="32" name="図 31" descr="テキスト, 手紙&#10;&#10;自動的に生成された説明">
            <a:extLst>
              <a:ext uri="{FF2B5EF4-FFF2-40B4-BE49-F238E27FC236}">
                <a16:creationId xmlns:a16="http://schemas.microsoft.com/office/drawing/2014/main" id="{A338D378-1A41-D2EB-FD9A-E6E549B3F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6997" y="31809173"/>
            <a:ext cx="5806946" cy="2294102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/>
          <p:nvPr/>
        </p:nvCxnSpPr>
        <p:spPr>
          <a:xfrm>
            <a:off x="350634" y="256345"/>
            <a:ext cx="2904079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/>
          <p:nvPr/>
        </p:nvCxnSpPr>
        <p:spPr>
          <a:xfrm>
            <a:off x="287882" y="3367095"/>
            <a:ext cx="2904079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606725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研究背景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29C1A8-FC53-A5B8-84D0-F09D6CA8F530}"/>
              </a:ext>
            </a:extLst>
          </p:cNvPr>
          <p:cNvSpPr/>
          <p:nvPr/>
        </p:nvSpPr>
        <p:spPr>
          <a:xfrm>
            <a:off x="15421955" y="7117421"/>
            <a:ext cx="14310580" cy="14148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E4224-E935-F1A7-F38B-9DF0C7F61EBD}"/>
              </a:ext>
            </a:extLst>
          </p:cNvPr>
          <p:cNvSpPr/>
          <p:nvPr/>
        </p:nvSpPr>
        <p:spPr>
          <a:xfrm>
            <a:off x="15421955" y="5606725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WEB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アプリ開発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6C9ED5-0573-2CDC-9A31-0B84848F4FDD}"/>
              </a:ext>
            </a:extLst>
          </p:cNvPr>
          <p:cNvSpPr txBox="1"/>
          <p:nvPr/>
        </p:nvSpPr>
        <p:spPr>
          <a:xfrm>
            <a:off x="982470" y="9838978"/>
            <a:ext cx="13342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クリエイターへのヒアリングから得た知見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61E34-7134-20DC-ECE7-D079D7895704}"/>
              </a:ext>
            </a:extLst>
          </p:cNvPr>
          <p:cNvSpPr txBox="1"/>
          <p:nvPr/>
        </p:nvSpPr>
        <p:spPr>
          <a:xfrm>
            <a:off x="6913138" y="7281606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背景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5DC2F65-A5D9-B8A9-0454-40BF9EC3B7C6}"/>
              </a:ext>
            </a:extLst>
          </p:cNvPr>
          <p:cNvSpPr txBox="1"/>
          <p:nvPr/>
        </p:nvSpPr>
        <p:spPr>
          <a:xfrm>
            <a:off x="2476025" y="8177015"/>
            <a:ext cx="104438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キャラクターデザインへの創作支援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algn="ctr"/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前提とした画像生成アプリケーションの開発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33" name="図 3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CF94EBF8-F3DB-246B-28C9-370C36C8F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89" y="15120576"/>
            <a:ext cx="13824756" cy="5787484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6AF851B-8C9E-5A32-42E6-E20582D4493A}"/>
              </a:ext>
            </a:extLst>
          </p:cNvPr>
          <p:cNvSpPr txBox="1"/>
          <p:nvPr/>
        </p:nvSpPr>
        <p:spPr>
          <a:xfrm>
            <a:off x="4143147" y="14166176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理想の創作支援の流れ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75FC94C-5DC7-3B30-7AD4-B9C0AFE1D29F}"/>
              </a:ext>
            </a:extLst>
          </p:cNvPr>
          <p:cNvSpPr txBox="1"/>
          <p:nvPr/>
        </p:nvSpPr>
        <p:spPr>
          <a:xfrm>
            <a:off x="2373431" y="21980897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生成条件の</a:t>
            </a:r>
            <a:r>
              <a:rPr kumimoji="1" lang="ja-JP" altLang="en-US" sz="48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8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を両立した</a:t>
            </a:r>
            <a:endParaRPr kumimoji="1" lang="en-US" altLang="ja-JP" sz="4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kumimoji="1" lang="ja-JP" altLang="en-US" sz="48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画像生成アプリケーションの開発</a:t>
            </a:r>
            <a:endParaRPr kumimoji="1" lang="en-US" altLang="ja-JP" sz="48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E79E91A-F63C-7EB2-A587-40B366B887B5}"/>
              </a:ext>
            </a:extLst>
          </p:cNvPr>
          <p:cNvSpPr txBox="1"/>
          <p:nvPr/>
        </p:nvSpPr>
        <p:spPr>
          <a:xfrm>
            <a:off x="6913135" y="21012698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目標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5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DBD9FBE-28E2-E6B9-95C8-973CF39B085F}"/>
              </a:ext>
            </a:extLst>
          </p:cNvPr>
          <p:cNvSpPr txBox="1"/>
          <p:nvPr/>
        </p:nvSpPr>
        <p:spPr>
          <a:xfrm>
            <a:off x="-8718894" y="24745180"/>
            <a:ext cx="1743778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クリエイターが条件に合致するタグを選択する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ランダムに未選択タグを追加する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GPT3.5-turbo∗4 </a:t>
            </a: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を用いてタグの要素を反映したテキストに変換する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テキストを画像生成モデルに入力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出力をキャラクターデザ イン案としてクリエイターに表示する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CA74F9-94D7-3525-EE4E-501AB70338A6}"/>
              </a:ext>
            </a:extLst>
          </p:cNvPr>
          <p:cNvSpPr/>
          <p:nvPr/>
        </p:nvSpPr>
        <p:spPr>
          <a:xfrm>
            <a:off x="542679" y="25574769"/>
            <a:ext cx="14310580" cy="16505123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9" y="7124815"/>
            <a:ext cx="14310580" cy="1630033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6001129" y="3500482"/>
            <a:ext cx="182729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54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54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EC5D70-7633-736A-D97E-D66F38D6EBA8}"/>
              </a:ext>
            </a:extLst>
          </p:cNvPr>
          <p:cNvSpPr txBox="1"/>
          <p:nvPr/>
        </p:nvSpPr>
        <p:spPr>
          <a:xfrm>
            <a:off x="17366583" y="22723187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結果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89F6AB-DAA6-B893-8114-CC7415396383}"/>
              </a:ext>
            </a:extLst>
          </p:cNvPr>
          <p:cNvSpPr txBox="1"/>
          <p:nvPr/>
        </p:nvSpPr>
        <p:spPr>
          <a:xfrm>
            <a:off x="16726547" y="41385747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参考文献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E188BA-46D9-F353-47D1-176886FD5D83}"/>
              </a:ext>
            </a:extLst>
          </p:cNvPr>
          <p:cNvSpPr txBox="1"/>
          <p:nvPr/>
        </p:nvSpPr>
        <p:spPr>
          <a:xfrm>
            <a:off x="13632413" y="41264870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謝辞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719E80-4396-6D8C-E6D6-B7A66D3C7734}"/>
              </a:ext>
            </a:extLst>
          </p:cNvPr>
          <p:cNvSpPr txBox="1"/>
          <p:nvPr/>
        </p:nvSpPr>
        <p:spPr>
          <a:xfrm>
            <a:off x="1242391" y="10858809"/>
            <a:ext cx="11812849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物語のプロット創作後にキャラデザを行う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0070C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プロットに矛盾しないデザイン案の生成</a:t>
            </a:r>
            <a:endParaRPr kumimoji="1" lang="en-US" altLang="ja-JP" sz="4000" dirty="0">
              <a:solidFill>
                <a:srgbClr val="0070C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クリエイターが思いつかないデザインの提案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意外性を持ったデザイン案の生成</a:t>
            </a:r>
            <a:endParaRPr kumimoji="1" lang="en-US" altLang="ja-JP" sz="4000" dirty="0">
              <a:solidFill>
                <a:srgbClr val="FF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20" name="Picture 26">
            <a:extLst>
              <a:ext uri="{FF2B5EF4-FFF2-40B4-BE49-F238E27FC236}">
                <a16:creationId xmlns:a16="http://schemas.microsoft.com/office/drawing/2014/main" id="{1D6823E6-D284-F370-9849-5DDAB2686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86" y="29971818"/>
            <a:ext cx="11566761" cy="7225220"/>
          </a:xfrm>
          <a:prstGeom prst="rect">
            <a:avLst/>
          </a:prstGeom>
        </p:spPr>
      </p:pic>
      <p:pic>
        <p:nvPicPr>
          <p:cNvPr id="23" name="図 2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90E174E4-442F-E16C-B635-8189434FA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864" y="13640530"/>
            <a:ext cx="12627565" cy="7013923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D023407-4D4E-7BA6-2483-734602034A62}"/>
              </a:ext>
            </a:extLst>
          </p:cNvPr>
          <p:cNvSpPr txBox="1"/>
          <p:nvPr/>
        </p:nvSpPr>
        <p:spPr>
          <a:xfrm>
            <a:off x="19277535" y="20654453"/>
            <a:ext cx="6955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タグの数：</a:t>
            </a:r>
            <a:r>
              <a:rPr kumimoji="1" lang="en-US" altLang="ja-JP" sz="4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374</a:t>
            </a:r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こ</a:t>
            </a:r>
            <a:endParaRPr kumimoji="1" lang="en-US" altLang="ja-JP" sz="4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ランダム生成：提案手法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C90EAE4-477D-E99D-1689-7A1F11209D2E}"/>
              </a:ext>
            </a:extLst>
          </p:cNvPr>
          <p:cNvSpPr txBox="1"/>
          <p:nvPr/>
        </p:nvSpPr>
        <p:spPr>
          <a:xfrm>
            <a:off x="17366583" y="10745304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データセット、モデルの説明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EF53A91-CA5A-03E6-8B88-4822F6A3380D}"/>
              </a:ext>
            </a:extLst>
          </p:cNvPr>
          <p:cNvSpPr txBox="1"/>
          <p:nvPr/>
        </p:nvSpPr>
        <p:spPr>
          <a:xfrm>
            <a:off x="17366582" y="2449298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定性評価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DBE0466-C75C-2E5F-2408-45BD6BBF431D}"/>
              </a:ext>
            </a:extLst>
          </p:cNvPr>
          <p:cNvSpPr txBox="1"/>
          <p:nvPr/>
        </p:nvSpPr>
        <p:spPr>
          <a:xfrm>
            <a:off x="16535585" y="29343614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ユーザーフィードバック</a:t>
            </a:r>
          </a:p>
        </p:txBody>
      </p:sp>
      <p:pic>
        <p:nvPicPr>
          <p:cNvPr id="30" name="図 29" descr="テーブル&#10;&#10;自動的に生成された説明">
            <a:extLst>
              <a:ext uri="{FF2B5EF4-FFF2-40B4-BE49-F238E27FC236}">
                <a16:creationId xmlns:a16="http://schemas.microsoft.com/office/drawing/2014/main" id="{2A78DD03-4CD0-F107-E27E-C02450376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8429" y="31074085"/>
            <a:ext cx="9522393" cy="4397105"/>
          </a:xfrm>
          <a:prstGeom prst="rect">
            <a:avLst/>
          </a:prstGeom>
        </p:spPr>
      </p:pic>
      <p:pic>
        <p:nvPicPr>
          <p:cNvPr id="32" name="図 31" descr="テキスト, 手紙&#10;&#10;自動的に生成された説明">
            <a:extLst>
              <a:ext uri="{FF2B5EF4-FFF2-40B4-BE49-F238E27FC236}">
                <a16:creationId xmlns:a16="http://schemas.microsoft.com/office/drawing/2014/main" id="{A338D378-1A41-D2EB-FD9A-E6E549B3F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6997" y="31809173"/>
            <a:ext cx="5806946" cy="2294102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/>
          <p:nvPr/>
        </p:nvCxnSpPr>
        <p:spPr>
          <a:xfrm>
            <a:off x="350634" y="256345"/>
            <a:ext cx="2904079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/>
          <p:nvPr/>
        </p:nvCxnSpPr>
        <p:spPr>
          <a:xfrm>
            <a:off x="287882" y="3367095"/>
            <a:ext cx="2904079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606725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研究背景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29C1A8-FC53-A5B8-84D0-F09D6CA8F530}"/>
              </a:ext>
            </a:extLst>
          </p:cNvPr>
          <p:cNvSpPr/>
          <p:nvPr/>
        </p:nvSpPr>
        <p:spPr>
          <a:xfrm>
            <a:off x="15421955" y="7117421"/>
            <a:ext cx="14310580" cy="14148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E4224-E935-F1A7-F38B-9DF0C7F61EBD}"/>
              </a:ext>
            </a:extLst>
          </p:cNvPr>
          <p:cNvSpPr/>
          <p:nvPr/>
        </p:nvSpPr>
        <p:spPr>
          <a:xfrm>
            <a:off x="15421955" y="5606725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WEB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アプリ開発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6C9ED5-0573-2CDC-9A31-0B84848F4FDD}"/>
              </a:ext>
            </a:extLst>
          </p:cNvPr>
          <p:cNvSpPr txBox="1"/>
          <p:nvPr/>
        </p:nvSpPr>
        <p:spPr>
          <a:xfrm>
            <a:off x="982470" y="9838978"/>
            <a:ext cx="13342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クリエイターへのヒアリングから得た知見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61E34-7134-20DC-ECE7-D079D7895704}"/>
              </a:ext>
            </a:extLst>
          </p:cNvPr>
          <p:cNvSpPr txBox="1"/>
          <p:nvPr/>
        </p:nvSpPr>
        <p:spPr>
          <a:xfrm>
            <a:off x="982470" y="72451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背景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5DC2F65-A5D9-B8A9-0454-40BF9EC3B7C6}"/>
              </a:ext>
            </a:extLst>
          </p:cNvPr>
          <p:cNvSpPr txBox="1"/>
          <p:nvPr/>
        </p:nvSpPr>
        <p:spPr>
          <a:xfrm>
            <a:off x="1242391" y="8212631"/>
            <a:ext cx="104438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キャラクターデザインへの創作支援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前提とした画像生成アプリケーションの開発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33" name="図 3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CF94EBF8-F3DB-246B-28C9-370C36C8F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89" y="15120576"/>
            <a:ext cx="13824756" cy="5787484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6AF851B-8C9E-5A32-42E6-E20582D4493A}"/>
              </a:ext>
            </a:extLst>
          </p:cNvPr>
          <p:cNvSpPr txBox="1"/>
          <p:nvPr/>
        </p:nvSpPr>
        <p:spPr>
          <a:xfrm>
            <a:off x="982470" y="13900186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理想の創作支援の流れ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75FC94C-5DC7-3B30-7AD4-B9C0AFE1D29F}"/>
              </a:ext>
            </a:extLst>
          </p:cNvPr>
          <p:cNvSpPr txBox="1"/>
          <p:nvPr/>
        </p:nvSpPr>
        <p:spPr>
          <a:xfrm>
            <a:off x="1242391" y="21987918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を両立した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画像生成アプリケーションの開発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18CAAD4-7A3C-51A8-0304-FBB6C2808660}"/>
              </a:ext>
            </a:extLst>
          </p:cNvPr>
          <p:cNvSpPr txBox="1"/>
          <p:nvPr/>
        </p:nvSpPr>
        <p:spPr>
          <a:xfrm>
            <a:off x="980782" y="2097237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目標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BFB3D1-BA70-1A24-C68E-514864990515}"/>
              </a:ext>
            </a:extLst>
          </p:cNvPr>
          <p:cNvSpPr/>
          <p:nvPr/>
        </p:nvSpPr>
        <p:spPr>
          <a:xfrm>
            <a:off x="542678" y="24056680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提案手法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010255-78C1-78CF-3398-B2E37ED6FEC6}"/>
              </a:ext>
            </a:extLst>
          </p:cNvPr>
          <p:cNvSpPr txBox="1"/>
          <p:nvPr/>
        </p:nvSpPr>
        <p:spPr>
          <a:xfrm>
            <a:off x="980782" y="29006211"/>
            <a:ext cx="9272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タグ選択で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条件入力を行う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UI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E69EB78-0123-E884-3C1A-3500542F29C5}"/>
              </a:ext>
            </a:extLst>
          </p:cNvPr>
          <p:cNvSpPr txBox="1"/>
          <p:nvPr/>
        </p:nvSpPr>
        <p:spPr>
          <a:xfrm>
            <a:off x="980782" y="25777138"/>
            <a:ext cx="6040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既存の画像生成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UI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F18EEB-C13F-009F-9222-80000B6C03CB}"/>
              </a:ext>
            </a:extLst>
          </p:cNvPr>
          <p:cNvSpPr txBox="1"/>
          <p:nvPr/>
        </p:nvSpPr>
        <p:spPr>
          <a:xfrm>
            <a:off x="1242391" y="26691462"/>
            <a:ext cx="1335173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テキストで条件入力を行う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UI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を採用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→→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生成結果がクリエイターのアイデアに依存するため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を持った生成結果が得づらい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9D95E6-423D-ACB4-A6A2-9EA404F32268}"/>
              </a:ext>
            </a:extLst>
          </p:cNvPr>
          <p:cNvSpPr txBox="1"/>
          <p:nvPr/>
        </p:nvSpPr>
        <p:spPr>
          <a:xfrm>
            <a:off x="1242391" y="37432838"/>
            <a:ext cx="1352165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選択タグに加えて未選択タグを条件に追加する処理を行う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→→ 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選択条件に従った上で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→→ </a:t>
            </a:r>
          </a:p>
        </p:txBody>
      </p:sp>
    </p:spTree>
    <p:extLst>
      <p:ext uri="{BB962C8B-B14F-4D97-AF65-F5344CB8AC3E}">
        <p14:creationId xmlns:p14="http://schemas.microsoft.com/office/powerpoint/2010/main" val="14744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図 65" descr="アイコン&#10;&#10;自動的に生成された説明">
            <a:extLst>
              <a:ext uri="{FF2B5EF4-FFF2-40B4-BE49-F238E27FC236}">
                <a16:creationId xmlns:a16="http://schemas.microsoft.com/office/drawing/2014/main" id="{855168F0-BFF7-3BDF-21DF-0B99E490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233" y="42024121"/>
            <a:ext cx="1339319" cy="723232"/>
          </a:xfrm>
          <a:prstGeom prst="rect">
            <a:avLst/>
          </a:prstGeom>
        </p:spPr>
      </p:pic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017064F-FD2B-62B5-BB97-DFB22437D5EC}"/>
              </a:ext>
            </a:extLst>
          </p:cNvPr>
          <p:cNvSpPr/>
          <p:nvPr/>
        </p:nvSpPr>
        <p:spPr>
          <a:xfrm>
            <a:off x="15448020" y="25468496"/>
            <a:ext cx="14310580" cy="1655459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CA74F9-94D7-3525-EE4E-501AB70338A6}"/>
              </a:ext>
            </a:extLst>
          </p:cNvPr>
          <p:cNvSpPr/>
          <p:nvPr/>
        </p:nvSpPr>
        <p:spPr>
          <a:xfrm>
            <a:off x="542679" y="24660373"/>
            <a:ext cx="14310580" cy="1342668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9" y="6700274"/>
            <a:ext cx="14310580" cy="16144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7007013" y="3500482"/>
            <a:ext cx="162611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48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719E80-4396-6D8C-E6D6-B7A66D3C7734}"/>
              </a:ext>
            </a:extLst>
          </p:cNvPr>
          <p:cNvSpPr txBox="1"/>
          <p:nvPr/>
        </p:nvSpPr>
        <p:spPr>
          <a:xfrm>
            <a:off x="1242391" y="10434268"/>
            <a:ext cx="13483178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物語のプロット創作後にキャラクターデザインを行う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0070C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プロットに矛盾しないデザイン案の生成</a:t>
            </a:r>
            <a:endParaRPr kumimoji="1" lang="en-US" altLang="ja-JP" sz="4000" dirty="0">
              <a:solidFill>
                <a:srgbClr val="0070C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クリエイターが思いつかないデザインの提案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意外性を持ったデザイン案の生成</a:t>
            </a:r>
            <a:endParaRPr kumimoji="1" lang="en-US" altLang="ja-JP" sz="4000" dirty="0">
              <a:solidFill>
                <a:srgbClr val="FF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20" name="Picture 26">
            <a:extLst>
              <a:ext uri="{FF2B5EF4-FFF2-40B4-BE49-F238E27FC236}">
                <a16:creationId xmlns:a16="http://schemas.microsoft.com/office/drawing/2014/main" id="{1D6823E6-D284-F370-9849-5DDAB2686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86" y="29057422"/>
            <a:ext cx="11566761" cy="7225220"/>
          </a:xfrm>
          <a:prstGeom prst="rect">
            <a:avLst/>
          </a:prstGeom>
        </p:spPr>
      </p:pic>
      <p:pic>
        <p:nvPicPr>
          <p:cNvPr id="30" name="図 29" descr="テーブル&#10;&#10;自動的に生成された説明">
            <a:extLst>
              <a:ext uri="{FF2B5EF4-FFF2-40B4-BE49-F238E27FC236}">
                <a16:creationId xmlns:a16="http://schemas.microsoft.com/office/drawing/2014/main" id="{2A78DD03-4CD0-F107-E27E-C02450376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4863" y="36349834"/>
            <a:ext cx="8340516" cy="3851356"/>
          </a:xfrm>
          <a:prstGeom prst="rect">
            <a:avLst/>
          </a:prstGeom>
        </p:spPr>
      </p:pic>
      <p:pic>
        <p:nvPicPr>
          <p:cNvPr id="32" name="図 31" descr="テキスト, 手紙&#10;&#10;自動的に生成された説明">
            <a:extLst>
              <a:ext uri="{FF2B5EF4-FFF2-40B4-BE49-F238E27FC236}">
                <a16:creationId xmlns:a16="http://schemas.microsoft.com/office/drawing/2014/main" id="{A338D378-1A41-D2EB-FD9A-E6E549B3F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4900" y="36788006"/>
            <a:ext cx="4633508" cy="1830522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>
            <a:cxnSpLocks/>
          </p:cNvCxnSpPr>
          <p:nvPr/>
        </p:nvCxnSpPr>
        <p:spPr>
          <a:xfrm>
            <a:off x="542678" y="256345"/>
            <a:ext cx="288487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>
            <a:cxnSpLocks/>
          </p:cNvCxnSpPr>
          <p:nvPr/>
        </p:nvCxnSpPr>
        <p:spPr>
          <a:xfrm>
            <a:off x="542678" y="3367095"/>
            <a:ext cx="2878599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182184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研究背景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29C1A8-FC53-A5B8-84D0-F09D6CA8F530}"/>
              </a:ext>
            </a:extLst>
          </p:cNvPr>
          <p:cNvSpPr/>
          <p:nvPr/>
        </p:nvSpPr>
        <p:spPr>
          <a:xfrm>
            <a:off x="15421955" y="6692880"/>
            <a:ext cx="14310580" cy="1693926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E4224-E935-F1A7-F38B-9DF0C7F61EBD}"/>
              </a:ext>
            </a:extLst>
          </p:cNvPr>
          <p:cNvSpPr/>
          <p:nvPr/>
        </p:nvSpPr>
        <p:spPr>
          <a:xfrm>
            <a:off x="15421955" y="5182184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3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アプリケーション開発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6C9ED5-0573-2CDC-9A31-0B84848F4FDD}"/>
              </a:ext>
            </a:extLst>
          </p:cNvPr>
          <p:cNvSpPr txBox="1"/>
          <p:nvPr/>
        </p:nvSpPr>
        <p:spPr>
          <a:xfrm>
            <a:off x="785589" y="9412627"/>
            <a:ext cx="13342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クリエイターへのヒアリングから得た知見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61E34-7134-20DC-ECE7-D079D7895704}"/>
              </a:ext>
            </a:extLst>
          </p:cNvPr>
          <p:cNvSpPr txBox="1"/>
          <p:nvPr/>
        </p:nvSpPr>
        <p:spPr>
          <a:xfrm>
            <a:off x="785589" y="68224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背景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5DC2F65-A5D9-B8A9-0454-40BF9EC3B7C6}"/>
              </a:ext>
            </a:extLst>
          </p:cNvPr>
          <p:cNvSpPr txBox="1"/>
          <p:nvPr/>
        </p:nvSpPr>
        <p:spPr>
          <a:xfrm>
            <a:off x="1242391" y="7788090"/>
            <a:ext cx="1044388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漫画キャラクターデザインへの創作支援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前提とした画像生成アプリケーションの開発</a:t>
            </a:r>
          </a:p>
          <a:p>
            <a:r>
              <a:rPr kumimoji="1" lang="en-US" altLang="ja-JP" sz="32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a</a:t>
            </a:r>
            <a:endParaRPr kumimoji="1" lang="en-US" altLang="ja-JP" sz="28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33" name="図 3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CF94EBF8-F3DB-246B-28C9-370C36C8F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89" y="14696035"/>
            <a:ext cx="13824756" cy="5787484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6AF851B-8C9E-5A32-42E6-E20582D4493A}"/>
              </a:ext>
            </a:extLst>
          </p:cNvPr>
          <p:cNvSpPr txBox="1"/>
          <p:nvPr/>
        </p:nvSpPr>
        <p:spPr>
          <a:xfrm>
            <a:off x="785589" y="13511903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理想の創作支援の流れ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75FC94C-5DC7-3B30-7AD4-B9C0AFE1D29F}"/>
              </a:ext>
            </a:extLst>
          </p:cNvPr>
          <p:cNvSpPr txBox="1"/>
          <p:nvPr/>
        </p:nvSpPr>
        <p:spPr>
          <a:xfrm>
            <a:off x="1242391" y="21400092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を両立した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画像生成アプリケーションの開発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18CAAD4-7A3C-51A8-0304-FBB6C2808660}"/>
              </a:ext>
            </a:extLst>
          </p:cNvPr>
          <p:cNvSpPr txBox="1"/>
          <p:nvPr/>
        </p:nvSpPr>
        <p:spPr>
          <a:xfrm>
            <a:off x="785589" y="20416915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目標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BFB3D1-BA70-1A24-C68E-514864990515}"/>
              </a:ext>
            </a:extLst>
          </p:cNvPr>
          <p:cNvSpPr/>
          <p:nvPr/>
        </p:nvSpPr>
        <p:spPr>
          <a:xfrm>
            <a:off x="542678" y="23142284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提案手法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010255-78C1-78CF-3398-B2E37ED6FEC6}"/>
              </a:ext>
            </a:extLst>
          </p:cNvPr>
          <p:cNvSpPr txBox="1"/>
          <p:nvPr/>
        </p:nvSpPr>
        <p:spPr>
          <a:xfrm>
            <a:off x="785589" y="28023690"/>
            <a:ext cx="9272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タグ選択で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条件入力を行う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UI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E69EB78-0123-E884-3C1A-3500542F29C5}"/>
              </a:ext>
            </a:extLst>
          </p:cNvPr>
          <p:cNvSpPr txBox="1"/>
          <p:nvPr/>
        </p:nvSpPr>
        <p:spPr>
          <a:xfrm>
            <a:off x="785589" y="24762444"/>
            <a:ext cx="6040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既存の画像生成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UI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F18EEB-C13F-009F-9222-80000B6C03CB}"/>
              </a:ext>
            </a:extLst>
          </p:cNvPr>
          <p:cNvSpPr txBox="1"/>
          <p:nvPr/>
        </p:nvSpPr>
        <p:spPr>
          <a:xfrm>
            <a:off x="1242391" y="25777066"/>
            <a:ext cx="1335173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テキストで条件入力を行う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UI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を採用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→→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生成結果がクリエイターのアイデアに依存するため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を持った生成結果が得づらい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9D95E6-423D-ACB4-A6A2-9EA404F32268}"/>
              </a:ext>
            </a:extLst>
          </p:cNvPr>
          <p:cNvSpPr txBox="1"/>
          <p:nvPr/>
        </p:nvSpPr>
        <p:spPr>
          <a:xfrm>
            <a:off x="1242391" y="36518442"/>
            <a:ext cx="13521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選択タグに加えて未選択タグを条件に追加する処理を行う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→→ 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を両立することが可能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51384D-2FD1-6299-B4F2-4F3C03E0E9C1}"/>
              </a:ext>
            </a:extLst>
          </p:cNvPr>
          <p:cNvSpPr txBox="1"/>
          <p:nvPr/>
        </p:nvSpPr>
        <p:spPr>
          <a:xfrm>
            <a:off x="15664864" y="6828694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漫画顔画像生成モデル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D7002A9-F619-3643-5788-F17F553131E4}"/>
              </a:ext>
            </a:extLst>
          </p:cNvPr>
          <p:cNvSpPr txBox="1"/>
          <p:nvPr/>
        </p:nvSpPr>
        <p:spPr>
          <a:xfrm>
            <a:off x="16121666" y="7794301"/>
            <a:ext cx="12096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ea typeface="Hiragino Sans W3" panose="020B0400000000000000" pitchFamily="34" charset="-128"/>
              </a:rPr>
              <a:t>Stable Diffusion 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lang="en-US" altLang="ja-JP" sz="4000" b="1" dirty="0" err="1"/>
              <a:t>Tezuka</a:t>
            </a:r>
            <a:r>
              <a:rPr lang="en-US" altLang="ja-JP" sz="4000" b="1" dirty="0"/>
              <a:t> Face Dataset </a:t>
            </a:r>
            <a:r>
              <a:rPr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で追加学習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39" name="図 38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3274B3A6-314A-C0C2-2CA7-C43CCDFE95B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3092"/>
          <a:stretch/>
        </p:blipFill>
        <p:spPr>
          <a:xfrm>
            <a:off x="16143883" y="9413800"/>
            <a:ext cx="6677143" cy="2750058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A24547F-97D6-FA50-23BF-685360B6A6FB}"/>
              </a:ext>
            </a:extLst>
          </p:cNvPr>
          <p:cNvSpPr txBox="1"/>
          <p:nvPr/>
        </p:nvSpPr>
        <p:spPr>
          <a:xfrm>
            <a:off x="17841370" y="12199537"/>
            <a:ext cx="318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©</a:t>
            </a:r>
            <a:r>
              <a:rPr kumimoji="1" lang="ja-JP" altLang="en-US" sz="2400"/>
              <a:t>手塚プロダクション</a:t>
            </a:r>
          </a:p>
        </p:txBody>
      </p:sp>
      <p:pic>
        <p:nvPicPr>
          <p:cNvPr id="41" name="図 40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F9BF90FA-5E9E-FC04-7EBD-0F59377F0E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61013" y="9434694"/>
            <a:ext cx="5856182" cy="3089833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ABAB66E-D241-852C-D29E-7A9F66C67B64}"/>
              </a:ext>
            </a:extLst>
          </p:cNvPr>
          <p:cNvSpPr txBox="1"/>
          <p:nvPr/>
        </p:nvSpPr>
        <p:spPr>
          <a:xfrm>
            <a:off x="16210860" y="8793355"/>
            <a:ext cx="6446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Tezuka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 Face Dataset (</a:t>
            </a:r>
            <a:r>
              <a:rPr kumimoji="1" lang="en-US" altLang="ja-JP" sz="3600" dirty="0"/>
              <a:t>20,987</a:t>
            </a:r>
            <a:r>
              <a:rPr kumimoji="1" lang="ja-JP" altLang="en-US" sz="3600"/>
              <a:t>枚</a:t>
            </a:r>
            <a:r>
              <a:rPr kumimoji="1" lang="en-US" altLang="ja-JP" sz="3600" dirty="0"/>
              <a:t>)</a:t>
            </a:r>
            <a:endParaRPr kumimoji="1" lang="ja-JP" altLang="en-US" sz="36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0054EC2-1E24-36AF-E706-979D4FB42966}"/>
              </a:ext>
            </a:extLst>
          </p:cNvPr>
          <p:cNvSpPr txBox="1"/>
          <p:nvPr/>
        </p:nvSpPr>
        <p:spPr>
          <a:xfrm>
            <a:off x="23557615" y="8788363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  <a:cs typeface="+mn-cs"/>
              </a:rPr>
              <a:t>生成した漫画顔画像の例</a:t>
            </a:r>
            <a:endParaRPr kumimoji="1" lang="ja-JP" altLang="en-US" sz="16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96DBA18-B9ED-CAF1-6DC7-BE742986A039}"/>
              </a:ext>
            </a:extLst>
          </p:cNvPr>
          <p:cNvSpPr txBox="1"/>
          <p:nvPr/>
        </p:nvSpPr>
        <p:spPr>
          <a:xfrm>
            <a:off x="15664863" y="12795447"/>
            <a:ext cx="10224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画像生成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WEB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アプリケーション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6B23734F-F8BF-0C54-7E8D-203FFF5E6A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7932" y="16591663"/>
            <a:ext cx="13398625" cy="6732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2A87793-62B0-6ED7-3721-C0ECB6750331}"/>
              </a:ext>
            </a:extLst>
          </p:cNvPr>
          <p:cNvSpPr txBox="1"/>
          <p:nvPr/>
        </p:nvSpPr>
        <p:spPr>
          <a:xfrm>
            <a:off x="16121666" y="13818479"/>
            <a:ext cx="1322028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タグを選択し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「ランダム生成」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をクリックすることで</a:t>
            </a:r>
            <a:b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</a:b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提案手法による画像生成を行う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「生成」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では未選択タグを追加せずに生成処理を行う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18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種類のカテゴリからなる合計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374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個のタグを用意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1DAF6FC-0B72-574C-7024-88640F6C0DB8}"/>
              </a:ext>
            </a:extLst>
          </p:cNvPr>
          <p:cNvSpPr/>
          <p:nvPr/>
        </p:nvSpPr>
        <p:spPr>
          <a:xfrm>
            <a:off x="15448020" y="23957800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4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評価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AE9D230-4EE1-DB67-E677-CF5BF63F9279}"/>
              </a:ext>
            </a:extLst>
          </p:cNvPr>
          <p:cNvSpPr txBox="1"/>
          <p:nvPr/>
        </p:nvSpPr>
        <p:spPr>
          <a:xfrm>
            <a:off x="15690929" y="25604310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定性評価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20B0978-9488-A6F9-0E65-2A7139F7067F}"/>
              </a:ext>
            </a:extLst>
          </p:cNvPr>
          <p:cNvSpPr txBox="1"/>
          <p:nvPr/>
        </p:nvSpPr>
        <p:spPr>
          <a:xfrm>
            <a:off x="16147731" y="26569917"/>
            <a:ext cx="8820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ea typeface="Hiragino Sans W3" panose="020B0400000000000000" pitchFamily="34" charset="-128"/>
              </a:rPr>
              <a:t>「生成」と「ランダム生成」の比較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54" name="図 53" descr="テキスト&#10;&#10;自動的に生成された説明">
            <a:extLst>
              <a:ext uri="{FF2B5EF4-FFF2-40B4-BE49-F238E27FC236}">
                <a16:creationId xmlns:a16="http://schemas.microsoft.com/office/drawing/2014/main" id="{DB33E4C6-3253-D05A-46B4-E630BAEAA8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01717" y="27682813"/>
            <a:ext cx="9053183" cy="5116021"/>
          </a:xfrm>
          <a:prstGeom prst="rect">
            <a:avLst/>
          </a:prstGeom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94D72F0-ACBE-685D-17AC-D9607AF797B0}"/>
              </a:ext>
            </a:extLst>
          </p:cNvPr>
          <p:cNvSpPr txBox="1"/>
          <p:nvPr/>
        </p:nvSpPr>
        <p:spPr>
          <a:xfrm>
            <a:off x="15690928" y="34222214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ユーザーフィードバック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6" name="テキスト ボックス 4">
            <a:extLst>
              <a:ext uri="{FF2B5EF4-FFF2-40B4-BE49-F238E27FC236}">
                <a16:creationId xmlns:a16="http://schemas.microsoft.com/office/drawing/2014/main" id="{7C25B700-C402-E70A-CA70-E3CED14293E4}"/>
              </a:ext>
            </a:extLst>
          </p:cNvPr>
          <p:cNvSpPr txBox="1"/>
          <p:nvPr/>
        </p:nvSpPr>
        <p:spPr>
          <a:xfrm>
            <a:off x="15543658" y="35952235"/>
            <a:ext cx="873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WEB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アプリで期待以上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/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足りない性能はなにか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69F6926-9ED6-CC76-1B12-E8E8A91EC7BB}"/>
              </a:ext>
            </a:extLst>
          </p:cNvPr>
          <p:cNvSpPr txBox="1"/>
          <p:nvPr/>
        </p:nvSpPr>
        <p:spPr>
          <a:xfrm>
            <a:off x="16121666" y="35148682"/>
            <a:ext cx="13540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対象：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TEZUKA2023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に参加した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名のプロクリエイター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8" name="テキスト ボックス 4">
            <a:extLst>
              <a:ext uri="{FF2B5EF4-FFF2-40B4-BE49-F238E27FC236}">
                <a16:creationId xmlns:a16="http://schemas.microsoft.com/office/drawing/2014/main" id="{E01CE93F-883C-8715-6F99-4051E3B5EE3F}"/>
              </a:ext>
            </a:extLst>
          </p:cNvPr>
          <p:cNvSpPr txBox="1"/>
          <p:nvPr/>
        </p:nvSpPr>
        <p:spPr>
          <a:xfrm>
            <a:off x="24133593" y="35943949"/>
            <a:ext cx="585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：ひとりでは生まれないような</a:t>
            </a:r>
            <a:endParaRPr kumimoji="1" lang="en-US" altLang="ja-JP" sz="2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　　キャラクターを創作できたか</a:t>
            </a: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3E6A274A-2559-52DD-35AF-1567E1DD9783}"/>
              </a:ext>
            </a:extLst>
          </p:cNvPr>
          <p:cNvCxnSpPr>
            <a:cxnSpLocks/>
          </p:cNvCxnSpPr>
          <p:nvPr/>
        </p:nvCxnSpPr>
        <p:spPr>
          <a:xfrm>
            <a:off x="23904994" y="35943949"/>
            <a:ext cx="0" cy="425724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DF7A0F3-C59C-ABFC-A631-5ADA09967AFD}"/>
              </a:ext>
            </a:extLst>
          </p:cNvPr>
          <p:cNvSpPr txBox="1"/>
          <p:nvPr/>
        </p:nvSpPr>
        <p:spPr>
          <a:xfrm>
            <a:off x="16226678" y="40296857"/>
            <a:ext cx="123193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：生成結果の品質は期待以上、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は改善必要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2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を得られた場合があった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62" name="フローチャート: 処理 9">
            <a:extLst>
              <a:ext uri="{FF2B5EF4-FFF2-40B4-BE49-F238E27FC236}">
                <a16:creationId xmlns:a16="http://schemas.microsoft.com/office/drawing/2014/main" id="{E76E6CCE-3C37-B865-DE46-36631EF33EF1}"/>
              </a:ext>
            </a:extLst>
          </p:cNvPr>
          <p:cNvSpPr/>
          <p:nvPr/>
        </p:nvSpPr>
        <p:spPr>
          <a:xfrm>
            <a:off x="15877931" y="38045573"/>
            <a:ext cx="7215457" cy="440052"/>
          </a:xfrm>
          <a:prstGeom prst="flowChartProcess">
            <a:avLst/>
          </a:prstGeom>
          <a:solidFill>
            <a:srgbClr val="0070C0">
              <a:alpha val="3402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rgbClr val="0070C0"/>
              </a:solidFill>
            </a:endParaRPr>
          </a:p>
        </p:txBody>
      </p:sp>
      <p:sp>
        <p:nvSpPr>
          <p:cNvPr id="63" name="フローチャート: 処理 6">
            <a:extLst>
              <a:ext uri="{FF2B5EF4-FFF2-40B4-BE49-F238E27FC236}">
                <a16:creationId xmlns:a16="http://schemas.microsoft.com/office/drawing/2014/main" id="{77D1BF81-BA3A-D1E8-6128-D81491FE67B6}"/>
              </a:ext>
            </a:extLst>
          </p:cNvPr>
          <p:cNvSpPr/>
          <p:nvPr/>
        </p:nvSpPr>
        <p:spPr>
          <a:xfrm>
            <a:off x="25172065" y="37490401"/>
            <a:ext cx="3500905" cy="435401"/>
          </a:xfrm>
          <a:prstGeom prst="flowChartProcess">
            <a:avLst/>
          </a:prstGeom>
          <a:solidFill>
            <a:srgbClr val="FF0000">
              <a:alpha val="3402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F9137B-1149-8003-0D5C-CACC5169A8F4}"/>
              </a:ext>
            </a:extLst>
          </p:cNvPr>
          <p:cNvSpPr txBox="1"/>
          <p:nvPr/>
        </p:nvSpPr>
        <p:spPr>
          <a:xfrm>
            <a:off x="542678" y="42122169"/>
            <a:ext cx="27793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本研究は、</a:t>
            </a:r>
            <a:r>
              <a:rPr lang="en-US" altLang="ja-JP" sz="28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NEDO </a:t>
            </a:r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人と共に進化する次世代人工知能に関する技術開発事業「インタラクティブなストーリー型コンテンツ創作支援基盤の開発」の助成を受けたものである。</a:t>
            </a:r>
            <a:endParaRPr kumimoji="1" lang="ja-JP" altLang="en-US" sz="280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D65829EF-6308-5669-44F3-9D92BE66FB92}"/>
              </a:ext>
            </a:extLst>
          </p:cNvPr>
          <p:cNvSpPr/>
          <p:nvPr/>
        </p:nvSpPr>
        <p:spPr>
          <a:xfrm>
            <a:off x="542677" y="39269148"/>
            <a:ext cx="14310580" cy="27539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E3AF04CE-CE09-A951-1C6B-9BE0FFDB6DA9}"/>
              </a:ext>
            </a:extLst>
          </p:cNvPr>
          <p:cNvSpPr/>
          <p:nvPr/>
        </p:nvSpPr>
        <p:spPr>
          <a:xfrm>
            <a:off x="542676" y="38318960"/>
            <a:ext cx="14310581" cy="884796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参考文献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BDFE4676-C73B-A3A6-A459-513E53CEFCA7}"/>
              </a:ext>
            </a:extLst>
          </p:cNvPr>
          <p:cNvSpPr txBox="1"/>
          <p:nvPr/>
        </p:nvSpPr>
        <p:spPr>
          <a:xfrm>
            <a:off x="25776297" y="29780943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/>
              <a:t>多数の例</a:t>
            </a:r>
          </a:p>
        </p:txBody>
      </p:sp>
    </p:spTree>
    <p:extLst>
      <p:ext uri="{BB962C8B-B14F-4D97-AF65-F5344CB8AC3E}">
        <p14:creationId xmlns:p14="http://schemas.microsoft.com/office/powerpoint/2010/main" val="243450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017064F-FD2B-62B5-BB97-DFB22437D5EC}"/>
              </a:ext>
            </a:extLst>
          </p:cNvPr>
          <p:cNvSpPr/>
          <p:nvPr/>
        </p:nvSpPr>
        <p:spPr>
          <a:xfrm>
            <a:off x="15448020" y="24325502"/>
            <a:ext cx="14310580" cy="1511116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 descr="アイコン&#10;&#10;自動的に生成された説明">
            <a:extLst>
              <a:ext uri="{FF2B5EF4-FFF2-40B4-BE49-F238E27FC236}">
                <a16:creationId xmlns:a16="http://schemas.microsoft.com/office/drawing/2014/main" id="{855168F0-BFF7-3BDF-21DF-0B99E490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233" y="42024121"/>
            <a:ext cx="1339319" cy="72323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CA74F9-94D7-3525-EE4E-501AB70338A6}"/>
              </a:ext>
            </a:extLst>
          </p:cNvPr>
          <p:cNvSpPr/>
          <p:nvPr/>
        </p:nvSpPr>
        <p:spPr>
          <a:xfrm>
            <a:off x="542679" y="25117571"/>
            <a:ext cx="14310580" cy="1342668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9" y="6700273"/>
            <a:ext cx="14310580" cy="1660717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7007013" y="3500482"/>
            <a:ext cx="162611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48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719E80-4396-6D8C-E6D6-B7A66D3C7734}"/>
              </a:ext>
            </a:extLst>
          </p:cNvPr>
          <p:cNvSpPr txBox="1"/>
          <p:nvPr/>
        </p:nvSpPr>
        <p:spPr>
          <a:xfrm>
            <a:off x="1242391" y="10956780"/>
            <a:ext cx="13483178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物語のプロット創作後にキャラクターデザインを行う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0070C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プロットに矛盾しないデザイン案の生成</a:t>
            </a:r>
            <a:endParaRPr kumimoji="1" lang="en-US" altLang="ja-JP" sz="4000" dirty="0">
              <a:solidFill>
                <a:srgbClr val="0070C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クリエイターが思いつかないデザインの提案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意外性を持ったデザイン案の生成</a:t>
            </a:r>
            <a:endParaRPr kumimoji="1" lang="en-US" altLang="ja-JP" sz="4000" dirty="0">
              <a:solidFill>
                <a:srgbClr val="FF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20" name="Picture 26">
            <a:extLst>
              <a:ext uri="{FF2B5EF4-FFF2-40B4-BE49-F238E27FC236}">
                <a16:creationId xmlns:a16="http://schemas.microsoft.com/office/drawing/2014/main" id="{1D6823E6-D284-F370-9849-5DDAB26867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41610" y="29455678"/>
            <a:ext cx="11512713" cy="7225220"/>
          </a:xfrm>
          <a:prstGeom prst="rect">
            <a:avLst/>
          </a:prstGeom>
        </p:spPr>
      </p:pic>
      <p:pic>
        <p:nvPicPr>
          <p:cNvPr id="32" name="図 31" descr="テキスト, 手紙&#10;&#10;自動的に生成された説明">
            <a:extLst>
              <a:ext uri="{FF2B5EF4-FFF2-40B4-BE49-F238E27FC236}">
                <a16:creationId xmlns:a16="http://schemas.microsoft.com/office/drawing/2014/main" id="{A338D378-1A41-D2EB-FD9A-E6E549B3F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0054" y="35121414"/>
            <a:ext cx="4633508" cy="1830522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>
            <a:cxnSpLocks/>
          </p:cNvCxnSpPr>
          <p:nvPr/>
        </p:nvCxnSpPr>
        <p:spPr>
          <a:xfrm>
            <a:off x="542678" y="256345"/>
            <a:ext cx="288487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>
            <a:cxnSpLocks/>
          </p:cNvCxnSpPr>
          <p:nvPr/>
        </p:nvCxnSpPr>
        <p:spPr>
          <a:xfrm>
            <a:off x="542678" y="3367095"/>
            <a:ext cx="2878599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182184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1.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研究背景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29C1A8-FC53-A5B8-84D0-F09D6CA8F530}"/>
              </a:ext>
            </a:extLst>
          </p:cNvPr>
          <p:cNvSpPr/>
          <p:nvPr/>
        </p:nvSpPr>
        <p:spPr>
          <a:xfrm>
            <a:off x="15421955" y="6692880"/>
            <a:ext cx="14310580" cy="166145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E4224-E935-F1A7-F38B-9DF0C7F61EBD}"/>
              </a:ext>
            </a:extLst>
          </p:cNvPr>
          <p:cNvSpPr/>
          <p:nvPr/>
        </p:nvSpPr>
        <p:spPr>
          <a:xfrm>
            <a:off x="15421955" y="5182184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3.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アプリケーション開発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6C9ED5-0573-2CDC-9A31-0B84848F4FDD}"/>
              </a:ext>
            </a:extLst>
          </p:cNvPr>
          <p:cNvSpPr txBox="1"/>
          <p:nvPr/>
        </p:nvSpPr>
        <p:spPr>
          <a:xfrm>
            <a:off x="785589" y="9935139"/>
            <a:ext cx="13342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クリエイターへのヒアリングから得た知見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61E34-7134-20DC-ECE7-D079D7895704}"/>
              </a:ext>
            </a:extLst>
          </p:cNvPr>
          <p:cNvSpPr txBox="1"/>
          <p:nvPr/>
        </p:nvSpPr>
        <p:spPr>
          <a:xfrm>
            <a:off x="785589" y="68224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背景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5DC2F65-A5D9-B8A9-0454-40BF9EC3B7C6}"/>
              </a:ext>
            </a:extLst>
          </p:cNvPr>
          <p:cNvSpPr txBox="1"/>
          <p:nvPr/>
        </p:nvSpPr>
        <p:spPr>
          <a:xfrm>
            <a:off x="1242391" y="7788090"/>
            <a:ext cx="1352165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クリエイターと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AI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で「ブラック・ジャック」の新作を共創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した</a:t>
            </a:r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TEZUKA2023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における、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キャラクター創作支援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行う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画像生成アプリケーションの開発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pic>
        <p:nvPicPr>
          <p:cNvPr id="33" name="図 3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CF94EBF8-F3DB-246B-28C9-370C36C8F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589" y="15218547"/>
            <a:ext cx="13824756" cy="5787484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6AF851B-8C9E-5A32-42E6-E20582D4493A}"/>
              </a:ext>
            </a:extLst>
          </p:cNvPr>
          <p:cNvSpPr txBox="1"/>
          <p:nvPr/>
        </p:nvSpPr>
        <p:spPr>
          <a:xfrm>
            <a:off x="785589" y="14034415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理想の創作支援の流れ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75FC94C-5DC7-3B30-7AD4-B9C0AFE1D29F}"/>
              </a:ext>
            </a:extLst>
          </p:cNvPr>
          <p:cNvSpPr txBox="1"/>
          <p:nvPr/>
        </p:nvSpPr>
        <p:spPr>
          <a:xfrm>
            <a:off x="1242391" y="21922604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を両立した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画像生成アプリケーションの開発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18CAAD4-7A3C-51A8-0304-FBB6C2808660}"/>
              </a:ext>
            </a:extLst>
          </p:cNvPr>
          <p:cNvSpPr txBox="1"/>
          <p:nvPr/>
        </p:nvSpPr>
        <p:spPr>
          <a:xfrm>
            <a:off x="785589" y="20939427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目標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BFB3D1-BA70-1A24-C68E-514864990515}"/>
              </a:ext>
            </a:extLst>
          </p:cNvPr>
          <p:cNvSpPr/>
          <p:nvPr/>
        </p:nvSpPr>
        <p:spPr>
          <a:xfrm>
            <a:off x="542678" y="23599482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2.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提案手法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010255-78C1-78CF-3398-B2E37ED6FEC6}"/>
              </a:ext>
            </a:extLst>
          </p:cNvPr>
          <p:cNvSpPr txBox="1"/>
          <p:nvPr/>
        </p:nvSpPr>
        <p:spPr>
          <a:xfrm>
            <a:off x="785589" y="28546202"/>
            <a:ext cx="9272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タグ選択で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条件入力を行う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UI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E69EB78-0123-E884-3C1A-3500542F29C5}"/>
              </a:ext>
            </a:extLst>
          </p:cNvPr>
          <p:cNvSpPr txBox="1"/>
          <p:nvPr/>
        </p:nvSpPr>
        <p:spPr>
          <a:xfrm>
            <a:off x="785589" y="25284956"/>
            <a:ext cx="126688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既存の画像生成</a:t>
            </a: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アプリケーション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 </a:t>
            </a:r>
            <a:r>
              <a:rPr kumimoji="1" lang="en-US" altLang="ja-JP" sz="540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</a:rPr>
              <a:t>[1][2]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F18EEB-C13F-009F-9222-80000B6C03CB}"/>
              </a:ext>
            </a:extLst>
          </p:cNvPr>
          <p:cNvSpPr txBox="1"/>
          <p:nvPr/>
        </p:nvSpPr>
        <p:spPr>
          <a:xfrm>
            <a:off x="1242391" y="26299578"/>
            <a:ext cx="1335173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テキストで条件入力を行う</a:t>
            </a:r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UI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を採用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→→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生成結果がクリエイターのアイデアに依存するため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を持った生成結果が得づらい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9D95E6-423D-ACB4-A6A2-9EA404F32268}"/>
              </a:ext>
            </a:extLst>
          </p:cNvPr>
          <p:cNvSpPr txBox="1"/>
          <p:nvPr/>
        </p:nvSpPr>
        <p:spPr>
          <a:xfrm>
            <a:off x="1242391" y="36879593"/>
            <a:ext cx="13521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選択タグに加えて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未選択タグを条件に追加する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→→ 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を両立することが可能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51384D-2FD1-6299-B4F2-4F3C03E0E9C1}"/>
              </a:ext>
            </a:extLst>
          </p:cNvPr>
          <p:cNvSpPr txBox="1"/>
          <p:nvPr/>
        </p:nvSpPr>
        <p:spPr>
          <a:xfrm>
            <a:off x="15664864" y="6828694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漫画顔画像生成モデル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D7002A9-F619-3643-5788-F17F553131E4}"/>
              </a:ext>
            </a:extLst>
          </p:cNvPr>
          <p:cNvSpPr txBox="1"/>
          <p:nvPr/>
        </p:nvSpPr>
        <p:spPr>
          <a:xfrm>
            <a:off x="16121666" y="7794301"/>
            <a:ext cx="13604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ea typeface="Hiragino Sans W3" panose="020B0400000000000000" pitchFamily="34" charset="-128"/>
              </a:rPr>
              <a:t>Stable Diffusion </a:t>
            </a:r>
            <a:r>
              <a:rPr kumimoji="1" lang="en-US" altLang="ja-JP" sz="4000" dirty="0">
                <a:ea typeface="Hiragino Sans W3" panose="020B0400000000000000" pitchFamily="34" charset="-128"/>
              </a:rPr>
              <a:t>[4]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lang="en-US" altLang="ja-JP" sz="4000" b="1" dirty="0" err="1"/>
              <a:t>Tezuka</a:t>
            </a:r>
            <a:r>
              <a:rPr lang="en-US" altLang="ja-JP" sz="4000" b="1" dirty="0"/>
              <a:t> Face Dataset  </a:t>
            </a:r>
            <a:r>
              <a:rPr lang="en-US" altLang="ja-JP" sz="4000" dirty="0"/>
              <a:t>[5] </a:t>
            </a: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で追加学習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39" name="図 38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3274B3A6-314A-C0C2-2CA7-C43CCDFE95B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33092"/>
          <a:stretch/>
        </p:blipFill>
        <p:spPr>
          <a:xfrm>
            <a:off x="16143883" y="9413800"/>
            <a:ext cx="6677143" cy="2750058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A24547F-97D6-FA50-23BF-685360B6A6FB}"/>
              </a:ext>
            </a:extLst>
          </p:cNvPr>
          <p:cNvSpPr txBox="1"/>
          <p:nvPr/>
        </p:nvSpPr>
        <p:spPr>
          <a:xfrm>
            <a:off x="17841370" y="12199537"/>
            <a:ext cx="318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©</a:t>
            </a:r>
            <a:r>
              <a:rPr kumimoji="1" lang="ja-JP" altLang="en-US" sz="2400"/>
              <a:t>手塚プロダクション</a:t>
            </a:r>
          </a:p>
        </p:txBody>
      </p:sp>
      <p:pic>
        <p:nvPicPr>
          <p:cNvPr id="41" name="図 40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F9BF90FA-5E9E-FC04-7EBD-0F59377F0E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61013" y="9434694"/>
            <a:ext cx="5856182" cy="3089833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ABAB66E-D241-852C-D29E-7A9F66C67B64}"/>
              </a:ext>
            </a:extLst>
          </p:cNvPr>
          <p:cNvSpPr txBox="1"/>
          <p:nvPr/>
        </p:nvSpPr>
        <p:spPr>
          <a:xfrm>
            <a:off x="16210860" y="8793355"/>
            <a:ext cx="6446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Tezuka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 Face Dataset (</a:t>
            </a:r>
            <a:r>
              <a:rPr kumimoji="1" lang="en-US" altLang="ja-JP" sz="3600" dirty="0"/>
              <a:t>20,987</a:t>
            </a:r>
            <a:r>
              <a:rPr kumimoji="1" lang="ja-JP" altLang="en-US" sz="3600"/>
              <a:t>枚</a:t>
            </a:r>
            <a:r>
              <a:rPr kumimoji="1" lang="en-US" altLang="ja-JP" sz="3600" dirty="0"/>
              <a:t>)</a:t>
            </a:r>
            <a:endParaRPr kumimoji="1" lang="ja-JP" altLang="en-US" sz="36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0054EC2-1E24-36AF-E706-979D4FB42966}"/>
              </a:ext>
            </a:extLst>
          </p:cNvPr>
          <p:cNvSpPr txBox="1"/>
          <p:nvPr/>
        </p:nvSpPr>
        <p:spPr>
          <a:xfrm>
            <a:off x="23557615" y="8788363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  <a:cs typeface="+mn-cs"/>
              </a:rPr>
              <a:t>生成した漫画顔画像の例</a:t>
            </a:r>
            <a:endParaRPr kumimoji="1" lang="ja-JP" altLang="en-US" sz="16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96DBA18-B9ED-CAF1-6DC7-BE742986A039}"/>
              </a:ext>
            </a:extLst>
          </p:cNvPr>
          <p:cNvSpPr txBox="1"/>
          <p:nvPr/>
        </p:nvSpPr>
        <p:spPr>
          <a:xfrm>
            <a:off x="15664863" y="12795447"/>
            <a:ext cx="10224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画像生成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WEB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アプリケーション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6B23734F-F8BF-0C54-7E8D-203FFF5E6A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05047" y="16466950"/>
            <a:ext cx="13173996" cy="6619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2A87793-62B0-6ED7-3721-C0ECB6750331}"/>
              </a:ext>
            </a:extLst>
          </p:cNvPr>
          <p:cNvSpPr txBox="1"/>
          <p:nvPr/>
        </p:nvSpPr>
        <p:spPr>
          <a:xfrm>
            <a:off x="16121666" y="13818479"/>
            <a:ext cx="1322028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タグを選択し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「ランダム生成」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をクリックすることで</a:t>
            </a:r>
            <a:b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</a:b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提案手法による画像生成を行う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「生成」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では未選択タグを追加せずに生成処理を行う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18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種類のカテゴリからなる合計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374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個のタグを用意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1DAF6FC-0B72-574C-7024-88640F6C0DB8}"/>
              </a:ext>
            </a:extLst>
          </p:cNvPr>
          <p:cNvSpPr/>
          <p:nvPr/>
        </p:nvSpPr>
        <p:spPr>
          <a:xfrm>
            <a:off x="15448020" y="23598573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4.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評価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AE9D230-4EE1-DB67-E677-CF5BF63F9279}"/>
              </a:ext>
            </a:extLst>
          </p:cNvPr>
          <p:cNvSpPr txBox="1"/>
          <p:nvPr/>
        </p:nvSpPr>
        <p:spPr>
          <a:xfrm>
            <a:off x="15690929" y="25245083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定性評価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20B0978-9488-A6F9-0E65-2A7139F7067F}"/>
              </a:ext>
            </a:extLst>
          </p:cNvPr>
          <p:cNvSpPr txBox="1"/>
          <p:nvPr/>
        </p:nvSpPr>
        <p:spPr>
          <a:xfrm>
            <a:off x="16147731" y="26210690"/>
            <a:ext cx="8820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ea typeface="Hiragino Sans W3" panose="020B0400000000000000" pitchFamily="34" charset="-128"/>
              </a:rPr>
              <a:t>「生成」と「ランダム生成」の比較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94D72F0-ACBE-685D-17AC-D9607AF797B0}"/>
              </a:ext>
            </a:extLst>
          </p:cNvPr>
          <p:cNvSpPr txBox="1"/>
          <p:nvPr/>
        </p:nvSpPr>
        <p:spPr>
          <a:xfrm>
            <a:off x="15690928" y="31674965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ユーザーフィードバック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6" name="テキスト ボックス 4">
            <a:extLst>
              <a:ext uri="{FF2B5EF4-FFF2-40B4-BE49-F238E27FC236}">
                <a16:creationId xmlns:a16="http://schemas.microsoft.com/office/drawing/2014/main" id="{7C25B700-C402-E70A-CA70-E3CED14293E4}"/>
              </a:ext>
            </a:extLst>
          </p:cNvPr>
          <p:cNvSpPr txBox="1"/>
          <p:nvPr/>
        </p:nvSpPr>
        <p:spPr>
          <a:xfrm>
            <a:off x="15518003" y="33831040"/>
            <a:ext cx="873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WEB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アプリで期待以上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/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足りない性能はなにか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69F6926-9ED6-CC76-1B12-E8E8A91EC7BB}"/>
              </a:ext>
            </a:extLst>
          </p:cNvPr>
          <p:cNvSpPr txBox="1"/>
          <p:nvPr/>
        </p:nvSpPr>
        <p:spPr>
          <a:xfrm>
            <a:off x="16121666" y="32666747"/>
            <a:ext cx="13540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対象：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TEZUKA2023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に参加した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名のプロクリエイター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8" name="テキスト ボックス 4">
            <a:extLst>
              <a:ext uri="{FF2B5EF4-FFF2-40B4-BE49-F238E27FC236}">
                <a16:creationId xmlns:a16="http://schemas.microsoft.com/office/drawing/2014/main" id="{E01CE93F-883C-8715-6F99-4051E3B5EE3F}"/>
              </a:ext>
            </a:extLst>
          </p:cNvPr>
          <p:cNvSpPr txBox="1"/>
          <p:nvPr/>
        </p:nvSpPr>
        <p:spPr>
          <a:xfrm>
            <a:off x="23993895" y="33854188"/>
            <a:ext cx="585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：ひとりでは生まれないような</a:t>
            </a:r>
            <a:endParaRPr kumimoji="1" lang="en-US" altLang="ja-JP" sz="2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　　キャラクターを創作できたか</a:t>
            </a: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3E6A274A-2559-52DD-35AF-1567E1DD9783}"/>
              </a:ext>
            </a:extLst>
          </p:cNvPr>
          <p:cNvCxnSpPr>
            <a:cxnSpLocks/>
          </p:cNvCxnSpPr>
          <p:nvPr/>
        </p:nvCxnSpPr>
        <p:spPr>
          <a:xfrm>
            <a:off x="23904994" y="33592642"/>
            <a:ext cx="0" cy="425724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DF7A0F3-C59C-ABFC-A631-5ADA09967AFD}"/>
              </a:ext>
            </a:extLst>
          </p:cNvPr>
          <p:cNvSpPr txBox="1"/>
          <p:nvPr/>
        </p:nvSpPr>
        <p:spPr>
          <a:xfrm>
            <a:off x="16226678" y="37945550"/>
            <a:ext cx="123193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：生成結果の品質は期待以上、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は改善が必要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2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を得られた場合があった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7BCCD84-3270-E044-78E3-B4CD6DCCF4BF}"/>
              </a:ext>
            </a:extLst>
          </p:cNvPr>
          <p:cNvGrpSpPr/>
          <p:nvPr/>
        </p:nvGrpSpPr>
        <p:grpSpPr>
          <a:xfrm>
            <a:off x="15954283" y="34264801"/>
            <a:ext cx="7603332" cy="3356778"/>
            <a:chOff x="15664863" y="33998527"/>
            <a:chExt cx="8340516" cy="3851356"/>
          </a:xfrm>
        </p:grpSpPr>
        <p:pic>
          <p:nvPicPr>
            <p:cNvPr id="30" name="図 29" descr="テーブル&#10;&#10;自動的に生成された説明">
              <a:extLst>
                <a:ext uri="{FF2B5EF4-FFF2-40B4-BE49-F238E27FC236}">
                  <a16:creationId xmlns:a16="http://schemas.microsoft.com/office/drawing/2014/main" id="{2A78DD03-4CD0-F107-E27E-C02450376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664863" y="33998527"/>
              <a:ext cx="8340516" cy="3851356"/>
            </a:xfrm>
            <a:prstGeom prst="rect">
              <a:avLst/>
            </a:prstGeom>
          </p:spPr>
        </p:pic>
        <p:sp>
          <p:nvSpPr>
            <p:cNvPr id="62" name="フローチャート: 処理 9">
              <a:extLst>
                <a:ext uri="{FF2B5EF4-FFF2-40B4-BE49-F238E27FC236}">
                  <a16:creationId xmlns:a16="http://schemas.microsoft.com/office/drawing/2014/main" id="{E76E6CCE-3C37-B865-DE46-36631EF33EF1}"/>
                </a:ext>
              </a:extLst>
            </p:cNvPr>
            <p:cNvSpPr/>
            <p:nvPr/>
          </p:nvSpPr>
          <p:spPr>
            <a:xfrm>
              <a:off x="15877931" y="35340927"/>
              <a:ext cx="7215457" cy="793391"/>
            </a:xfrm>
            <a:prstGeom prst="flowChartProcess">
              <a:avLst/>
            </a:prstGeom>
            <a:solidFill>
              <a:srgbClr val="0070C0">
                <a:alpha val="34020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solidFill>
                  <a:srgbClr val="0070C0"/>
                </a:solidFill>
              </a:endParaRPr>
            </a:p>
          </p:txBody>
        </p:sp>
      </p:grpSp>
      <p:sp>
        <p:nvSpPr>
          <p:cNvPr id="63" name="フローチャート: 処理 6">
            <a:extLst>
              <a:ext uri="{FF2B5EF4-FFF2-40B4-BE49-F238E27FC236}">
                <a16:creationId xmlns:a16="http://schemas.microsoft.com/office/drawing/2014/main" id="{77D1BF81-BA3A-D1E8-6128-D81491FE67B6}"/>
              </a:ext>
            </a:extLst>
          </p:cNvPr>
          <p:cNvSpPr/>
          <p:nvPr/>
        </p:nvSpPr>
        <p:spPr>
          <a:xfrm>
            <a:off x="24977219" y="35823809"/>
            <a:ext cx="3500905" cy="435401"/>
          </a:xfrm>
          <a:prstGeom prst="flowChartProcess">
            <a:avLst/>
          </a:prstGeom>
          <a:solidFill>
            <a:srgbClr val="FF0000">
              <a:alpha val="3402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F9137B-1149-8003-0D5C-CACC5169A8F4}"/>
              </a:ext>
            </a:extLst>
          </p:cNvPr>
          <p:cNvSpPr txBox="1"/>
          <p:nvPr/>
        </p:nvSpPr>
        <p:spPr>
          <a:xfrm>
            <a:off x="542678" y="42122169"/>
            <a:ext cx="27793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本研究は、</a:t>
            </a:r>
            <a:r>
              <a:rPr lang="en-US" altLang="ja-JP" sz="28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NEDO </a:t>
            </a:r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人と共に進化する次世代人工知能に関する技術開発事業「インタラクティブなストーリー型コンテンツ創作支援基盤の開発」の助成を受けたものである。</a:t>
            </a:r>
            <a:endParaRPr kumimoji="1" lang="ja-JP" altLang="en-US" sz="280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D65829EF-6308-5669-44F3-9D92BE66FB92}"/>
              </a:ext>
            </a:extLst>
          </p:cNvPr>
          <p:cNvSpPr/>
          <p:nvPr/>
        </p:nvSpPr>
        <p:spPr>
          <a:xfrm>
            <a:off x="542677" y="39747072"/>
            <a:ext cx="29189858" cy="223379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E3AF04CE-CE09-A951-1C6B-9BE0FFDB6DA9}"/>
              </a:ext>
            </a:extLst>
          </p:cNvPr>
          <p:cNvSpPr/>
          <p:nvPr/>
        </p:nvSpPr>
        <p:spPr>
          <a:xfrm>
            <a:off x="542677" y="38836298"/>
            <a:ext cx="14310581" cy="884796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参考文献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0D06541-DDEE-2B27-CDF1-F96256AE5EE8}"/>
              </a:ext>
            </a:extLst>
          </p:cNvPr>
          <p:cNvCxnSpPr>
            <a:cxnSpLocks/>
          </p:cNvCxnSpPr>
          <p:nvPr/>
        </p:nvCxnSpPr>
        <p:spPr>
          <a:xfrm flipH="1">
            <a:off x="15421955" y="37777917"/>
            <a:ext cx="14240597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6FFAE3B-B9A7-C0B0-F587-D1DD3F177B62}"/>
              </a:ext>
            </a:extLst>
          </p:cNvPr>
          <p:cNvCxnSpPr>
            <a:cxnSpLocks/>
          </p:cNvCxnSpPr>
          <p:nvPr/>
        </p:nvCxnSpPr>
        <p:spPr>
          <a:xfrm flipH="1">
            <a:off x="15518003" y="33520635"/>
            <a:ext cx="14240597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17191B7-8EC8-F9A4-D7B9-5865C8E387F1}"/>
              </a:ext>
            </a:extLst>
          </p:cNvPr>
          <p:cNvSpPr txBox="1"/>
          <p:nvPr/>
        </p:nvSpPr>
        <p:spPr>
          <a:xfrm>
            <a:off x="722954" y="39944222"/>
            <a:ext cx="289395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dirty="0"/>
              <a:t>[1] https://github.com/AUTOMATIC1111/stable-diffusion-</a:t>
            </a:r>
            <a:r>
              <a:rPr kumimoji="1" lang="en-US" altLang="ja-JP" sz="3000" dirty="0" err="1"/>
              <a:t>webui</a:t>
            </a:r>
            <a:r>
              <a:rPr kumimoji="1" lang="en-US" altLang="ja-JP" sz="3000" dirty="0"/>
              <a:t>,  [2] https://www.midjourney.com/home, [3] https://</a:t>
            </a:r>
            <a:r>
              <a:rPr kumimoji="1" lang="en-US" altLang="ja-JP" sz="3000" dirty="0" err="1"/>
              <a:t>platform.openai.com</a:t>
            </a:r>
            <a:r>
              <a:rPr kumimoji="1" lang="en-US" altLang="ja-JP" sz="3000" dirty="0"/>
              <a:t>/docs/models/gpt-3-5-turbo</a:t>
            </a:r>
          </a:p>
          <a:p>
            <a:r>
              <a:rPr kumimoji="1" lang="en-US" altLang="ja-JP" sz="3000" dirty="0"/>
              <a:t>[4] </a:t>
            </a:r>
            <a:r>
              <a:rPr lang="en-US" altLang="ja-JP" sz="3000" dirty="0"/>
              <a:t>Robin </a:t>
            </a:r>
            <a:r>
              <a:rPr lang="en-US" altLang="ja-JP" sz="3000" dirty="0" err="1"/>
              <a:t>Rombach</a:t>
            </a:r>
            <a:r>
              <a:rPr lang="en-US" altLang="ja-JP" sz="3000" dirty="0"/>
              <a:t>, Andreas </a:t>
            </a:r>
            <a:r>
              <a:rPr lang="en-US" altLang="ja-JP" sz="3000" dirty="0" err="1"/>
              <a:t>Blattmann</a:t>
            </a:r>
            <a:r>
              <a:rPr lang="en-US" altLang="ja-JP" sz="3000" dirty="0"/>
              <a:t>, Dominik Lorenz, Patrick </a:t>
            </a:r>
            <a:r>
              <a:rPr lang="en-US" altLang="ja-JP" sz="3000" dirty="0" err="1"/>
              <a:t>Esser</a:t>
            </a:r>
            <a:r>
              <a:rPr lang="en-US" altLang="ja-JP" sz="3000" dirty="0"/>
              <a:t>, and Björn </a:t>
            </a:r>
            <a:r>
              <a:rPr lang="en-US" altLang="ja-JP" sz="3000" dirty="0" err="1"/>
              <a:t>Ommer</a:t>
            </a:r>
            <a:r>
              <a:rPr lang="en-US" altLang="ja-JP" sz="3000" dirty="0"/>
              <a:t>. High-Resolution Image Synthesis with Latent Diffusion Models. In CVPR, 2022.</a:t>
            </a:r>
          </a:p>
          <a:p>
            <a:r>
              <a:rPr kumimoji="1" lang="en-US" altLang="ja-JP" sz="3000" dirty="0"/>
              <a:t>[5]</a:t>
            </a:r>
            <a:r>
              <a:rPr lang="ja-JP" altLang="en-US" sz="3000"/>
              <a:t>畠山 太郎</a:t>
            </a:r>
            <a:r>
              <a:rPr lang="en-US" altLang="ja-JP" sz="3000" dirty="0"/>
              <a:t>, </a:t>
            </a:r>
            <a:r>
              <a:rPr lang="ja-JP" altLang="en-US" sz="3000"/>
              <a:t>齋藤 隆丞</a:t>
            </a:r>
            <a:r>
              <a:rPr lang="en-US" altLang="ja-JP" sz="3000" dirty="0"/>
              <a:t>, </a:t>
            </a:r>
            <a:r>
              <a:rPr lang="ja-JP" altLang="en-US" sz="3000"/>
              <a:t>蛭田 興明</a:t>
            </a:r>
            <a:r>
              <a:rPr lang="en-US" altLang="ja-JP" sz="3000" dirty="0"/>
              <a:t>, </a:t>
            </a:r>
            <a:r>
              <a:rPr lang="ja-JP" altLang="en-US" sz="3000"/>
              <a:t>橋本 敦史</a:t>
            </a:r>
            <a:r>
              <a:rPr lang="en-US" altLang="ja-JP" sz="3000" dirty="0"/>
              <a:t>, </a:t>
            </a:r>
            <a:r>
              <a:rPr lang="ja-JP" altLang="en-US" sz="3000"/>
              <a:t>栗原 聡</a:t>
            </a:r>
            <a:r>
              <a:rPr lang="en-US" altLang="ja-JP" sz="3000" dirty="0"/>
              <a:t>, </a:t>
            </a:r>
            <a:r>
              <a:rPr lang="ja-JP" altLang="en-US" sz="3000"/>
              <a:t>条件付き敵対的生成ネットワークに対する</a:t>
            </a:r>
            <a:r>
              <a:rPr lang="en-US" altLang="ja-JP" sz="3000" dirty="0"/>
              <a:t>GAN Inversion</a:t>
            </a:r>
            <a:r>
              <a:rPr lang="ja-JP" altLang="en-US" sz="3000"/>
              <a:t>の適用による実写顔画像から漫画顔画像への変換手法の提</a:t>
            </a:r>
            <a:r>
              <a:rPr lang="en-US" altLang="ja-JP" sz="3000" dirty="0"/>
              <a:t>    	</a:t>
            </a:r>
            <a:r>
              <a:rPr lang="ja-JP" altLang="en-US" sz="3000"/>
              <a:t>案</a:t>
            </a:r>
            <a:r>
              <a:rPr lang="en-US" altLang="ja-JP" sz="3000" dirty="0"/>
              <a:t>, </a:t>
            </a:r>
            <a:r>
              <a:rPr lang="ja-JP" altLang="en-US" sz="3000"/>
              <a:t>人工知能学会全国大会論文集</a:t>
            </a:r>
            <a:r>
              <a:rPr lang="en-US" altLang="ja-JP" sz="3000" dirty="0"/>
              <a:t>, 2022</a:t>
            </a:r>
            <a:r>
              <a:rPr lang="ja-JP" altLang="en-US" sz="3000"/>
              <a:t>．</a:t>
            </a:r>
            <a:endParaRPr kumimoji="1" lang="en-US" altLang="ja-JP" sz="3000" dirty="0"/>
          </a:p>
        </p:txBody>
      </p:sp>
      <p:pic>
        <p:nvPicPr>
          <p:cNvPr id="53" name="図 5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76B792F4-10E8-4AC0-8A8B-517DC5F2D6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8910" y="26921714"/>
            <a:ext cx="13932891" cy="452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2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17191B7-8EC8-F9A4-D7B9-5865C8E387F1}"/>
              </a:ext>
            </a:extLst>
          </p:cNvPr>
          <p:cNvSpPr txBox="1"/>
          <p:nvPr/>
        </p:nvSpPr>
        <p:spPr>
          <a:xfrm>
            <a:off x="15448019" y="38182260"/>
            <a:ext cx="1431057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dirty="0"/>
              <a:t>[1] https://github.com/AUTOMATIC1111/stable-diffusion-</a:t>
            </a:r>
            <a:r>
              <a:rPr kumimoji="1" lang="en-US" altLang="ja-JP" sz="3000" dirty="0" err="1"/>
              <a:t>webui</a:t>
            </a:r>
            <a:endParaRPr kumimoji="1" lang="en-US" altLang="ja-JP" sz="3000" dirty="0"/>
          </a:p>
          <a:p>
            <a:r>
              <a:rPr kumimoji="1" lang="en-US" altLang="ja-JP" sz="3000" dirty="0"/>
              <a:t>[2] https://www.midjourney.com/home</a:t>
            </a:r>
          </a:p>
          <a:p>
            <a:r>
              <a:rPr kumimoji="1" lang="en-US" altLang="ja-JP" sz="3000" dirty="0"/>
              <a:t>[3] https://</a:t>
            </a:r>
            <a:r>
              <a:rPr kumimoji="1" lang="en-US" altLang="ja-JP" sz="3000" dirty="0" err="1"/>
              <a:t>platform.openai.com</a:t>
            </a:r>
            <a:r>
              <a:rPr kumimoji="1" lang="en-US" altLang="ja-JP" sz="3000" dirty="0"/>
              <a:t>/docs/models/gpt-3-5-turbo</a:t>
            </a:r>
          </a:p>
          <a:p>
            <a:r>
              <a:rPr kumimoji="1" lang="en-US" altLang="ja-JP" sz="3000" dirty="0"/>
              <a:t>[4] </a:t>
            </a:r>
            <a:r>
              <a:rPr lang="en-US" altLang="ja-JP" sz="3000" dirty="0"/>
              <a:t>Robin </a:t>
            </a:r>
            <a:r>
              <a:rPr lang="en-US" altLang="ja-JP" sz="3000" dirty="0" err="1"/>
              <a:t>Rombach</a:t>
            </a:r>
            <a:r>
              <a:rPr lang="en-US" altLang="ja-JP" sz="3000" dirty="0"/>
              <a:t>, Andreas </a:t>
            </a:r>
            <a:r>
              <a:rPr lang="en-US" altLang="ja-JP" sz="3000" dirty="0" err="1"/>
              <a:t>Blattmann</a:t>
            </a:r>
            <a:r>
              <a:rPr lang="en-US" altLang="ja-JP" sz="3000" dirty="0"/>
              <a:t>, Dominik Lorenz, Patrick </a:t>
            </a:r>
            <a:r>
              <a:rPr lang="en-US" altLang="ja-JP" sz="3000" dirty="0" err="1"/>
              <a:t>Esser</a:t>
            </a:r>
            <a:r>
              <a:rPr lang="en-US" altLang="ja-JP" sz="3000" dirty="0"/>
              <a:t>, and Björn</a:t>
            </a:r>
            <a:r>
              <a:rPr lang="ja-JP" altLang="en-US" sz="3000"/>
              <a:t>　</a:t>
            </a:r>
            <a:r>
              <a:rPr lang="en-US" altLang="ja-JP" sz="3000" dirty="0" err="1"/>
              <a:t>Ommer</a:t>
            </a:r>
            <a:r>
              <a:rPr lang="en-US" altLang="ja-JP" sz="3000" dirty="0"/>
              <a:t>. High-Resolution Image Synthesis with Latent Diffusion Models. In CVPR, 2022</a:t>
            </a:r>
          </a:p>
          <a:p>
            <a:r>
              <a:rPr kumimoji="1" lang="en-US" altLang="ja-JP" sz="3000" dirty="0"/>
              <a:t>[5]</a:t>
            </a:r>
            <a:r>
              <a:rPr lang="ja-JP" altLang="en-US" sz="3000"/>
              <a:t>畠山太郎</a:t>
            </a:r>
            <a:r>
              <a:rPr lang="en-US" altLang="ja-JP" sz="3000" dirty="0"/>
              <a:t>, </a:t>
            </a:r>
            <a:r>
              <a:rPr lang="ja-JP" altLang="en-US" sz="3000"/>
              <a:t>齋藤隆丞</a:t>
            </a:r>
            <a:r>
              <a:rPr lang="en-US" altLang="ja-JP" sz="3000" dirty="0"/>
              <a:t>, </a:t>
            </a:r>
            <a:r>
              <a:rPr lang="ja-JP" altLang="en-US" sz="3000"/>
              <a:t>蛭田興明</a:t>
            </a:r>
            <a:r>
              <a:rPr lang="en-US" altLang="ja-JP" sz="3000" dirty="0"/>
              <a:t>, </a:t>
            </a:r>
            <a:r>
              <a:rPr lang="ja-JP" altLang="en-US" sz="3000"/>
              <a:t>橋本敦史</a:t>
            </a:r>
            <a:r>
              <a:rPr lang="en-US" altLang="ja-JP" sz="3000" dirty="0"/>
              <a:t>, </a:t>
            </a:r>
            <a:r>
              <a:rPr lang="ja-JP" altLang="en-US" sz="3000"/>
              <a:t>栗原聡</a:t>
            </a:r>
            <a:r>
              <a:rPr lang="en-US" altLang="ja-JP" sz="3000" dirty="0"/>
              <a:t>, </a:t>
            </a:r>
            <a:r>
              <a:rPr lang="ja-JP" altLang="en-US" sz="3000"/>
              <a:t>条件付き敵対的生成ネットワークに対する</a:t>
            </a:r>
            <a:r>
              <a:rPr lang="en-US" altLang="ja-JP" sz="3000" dirty="0"/>
              <a:t>GAN Inversion</a:t>
            </a:r>
            <a:r>
              <a:rPr lang="ja-JP" altLang="en-US" sz="3000"/>
              <a:t>の適用による実写顔画像から漫画顔画像への変換手法の提案</a:t>
            </a:r>
            <a:r>
              <a:rPr lang="en-US" altLang="ja-JP" sz="3000" dirty="0"/>
              <a:t>, </a:t>
            </a:r>
            <a:r>
              <a:rPr lang="ja-JP" altLang="en-US" sz="3000"/>
              <a:t>人工知能学会全国大会論文集</a:t>
            </a:r>
            <a:r>
              <a:rPr lang="en-US" altLang="ja-JP" sz="3000" dirty="0"/>
              <a:t>, 2022</a:t>
            </a:r>
            <a:r>
              <a:rPr lang="ja-JP" altLang="en-US" sz="3000"/>
              <a:t>．</a:t>
            </a:r>
            <a:endParaRPr kumimoji="1" lang="en-US" altLang="ja-JP" sz="3000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017064F-FD2B-62B5-BB97-DFB22437D5EC}"/>
              </a:ext>
            </a:extLst>
          </p:cNvPr>
          <p:cNvSpPr/>
          <p:nvPr/>
        </p:nvSpPr>
        <p:spPr>
          <a:xfrm>
            <a:off x="15448020" y="21775800"/>
            <a:ext cx="14310580" cy="1511116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 descr="アイコン&#10;&#10;自動的に生成された説明">
            <a:extLst>
              <a:ext uri="{FF2B5EF4-FFF2-40B4-BE49-F238E27FC236}">
                <a16:creationId xmlns:a16="http://schemas.microsoft.com/office/drawing/2014/main" id="{855168F0-BFF7-3BDF-21DF-0B99E490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9948" y="42024121"/>
            <a:ext cx="1339319" cy="72323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9" y="6700273"/>
            <a:ext cx="14310580" cy="1660717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7007013" y="3500482"/>
            <a:ext cx="162611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48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719E80-4396-6D8C-E6D6-B7A66D3C7734}"/>
              </a:ext>
            </a:extLst>
          </p:cNvPr>
          <p:cNvSpPr txBox="1"/>
          <p:nvPr/>
        </p:nvSpPr>
        <p:spPr>
          <a:xfrm>
            <a:off x="1242391" y="10956780"/>
            <a:ext cx="13483178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物語のプロット創作後にキャラクターデザインを行う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0070C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プロットに矛盾しないデザイン案の生成</a:t>
            </a:r>
            <a:endParaRPr kumimoji="1" lang="en-US" altLang="ja-JP" sz="4000" dirty="0">
              <a:solidFill>
                <a:srgbClr val="0070C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2 .  </a:t>
            </a:r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クリエイターが思いつかないデザインの提案</a:t>
            </a:r>
            <a:endParaRPr kumimoji="1" lang="en-US" altLang="ja-JP" sz="40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endParaRPr kumimoji="1" lang="en-US" altLang="ja-JP" sz="9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→→ </a:t>
            </a:r>
            <a:r>
              <a:rPr kumimoji="1" lang="ja-JP" altLang="en-US" sz="40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意外性を持ったデザイン案の生成</a:t>
            </a:r>
            <a:endParaRPr kumimoji="1" lang="en-US" altLang="ja-JP" sz="4000" dirty="0">
              <a:solidFill>
                <a:srgbClr val="FF0000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32" name="図 31" descr="テキスト, 手紙&#10;&#10;自動的に生成された説明">
            <a:extLst>
              <a:ext uri="{FF2B5EF4-FFF2-40B4-BE49-F238E27FC236}">
                <a16:creationId xmlns:a16="http://schemas.microsoft.com/office/drawing/2014/main" id="{A338D378-1A41-D2EB-FD9A-E6E549B3F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054" y="32571712"/>
            <a:ext cx="4633508" cy="1830522"/>
          </a:xfrm>
          <a:prstGeom prst="rect">
            <a:avLst/>
          </a:prstGeom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>
            <a:cxnSpLocks/>
          </p:cNvCxnSpPr>
          <p:nvPr/>
        </p:nvCxnSpPr>
        <p:spPr>
          <a:xfrm>
            <a:off x="542678" y="256345"/>
            <a:ext cx="288487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>
            <a:cxnSpLocks/>
          </p:cNvCxnSpPr>
          <p:nvPr/>
        </p:nvCxnSpPr>
        <p:spPr>
          <a:xfrm>
            <a:off x="542678" y="3367095"/>
            <a:ext cx="2878599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182184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1.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研究背景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29C1A8-FC53-A5B8-84D0-F09D6CA8F530}"/>
              </a:ext>
            </a:extLst>
          </p:cNvPr>
          <p:cNvSpPr/>
          <p:nvPr/>
        </p:nvSpPr>
        <p:spPr>
          <a:xfrm>
            <a:off x="560163" y="25073098"/>
            <a:ext cx="14310580" cy="1694710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E4224-E935-F1A7-F38B-9DF0C7F61EBD}"/>
              </a:ext>
            </a:extLst>
          </p:cNvPr>
          <p:cNvSpPr/>
          <p:nvPr/>
        </p:nvSpPr>
        <p:spPr>
          <a:xfrm>
            <a:off x="560163" y="23562403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3.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アプリケーション開発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6C9ED5-0573-2CDC-9A31-0B84848F4FDD}"/>
              </a:ext>
            </a:extLst>
          </p:cNvPr>
          <p:cNvSpPr txBox="1"/>
          <p:nvPr/>
        </p:nvSpPr>
        <p:spPr>
          <a:xfrm>
            <a:off x="785589" y="9935139"/>
            <a:ext cx="13342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クリエイターへのヒアリングから得た知見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61E34-7134-20DC-ECE7-D079D7895704}"/>
              </a:ext>
            </a:extLst>
          </p:cNvPr>
          <p:cNvSpPr txBox="1"/>
          <p:nvPr/>
        </p:nvSpPr>
        <p:spPr>
          <a:xfrm>
            <a:off x="785589" y="68224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背景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5DC2F65-A5D9-B8A9-0454-40BF9EC3B7C6}"/>
              </a:ext>
            </a:extLst>
          </p:cNvPr>
          <p:cNvSpPr txBox="1"/>
          <p:nvPr/>
        </p:nvSpPr>
        <p:spPr>
          <a:xfrm>
            <a:off x="1242391" y="7788090"/>
            <a:ext cx="1352165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クリエイターと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AI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で「ブラック・ジャック」の新作を共創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した</a:t>
            </a:r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TEZUKA2023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における、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キャラクター創作支援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行う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画像生成アプリケーションの開発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pic>
        <p:nvPicPr>
          <p:cNvPr id="33" name="図 3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CF94EBF8-F3DB-246B-28C9-370C36C8F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89" y="15218547"/>
            <a:ext cx="13824756" cy="5787484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6AF851B-8C9E-5A32-42E6-E20582D4493A}"/>
              </a:ext>
            </a:extLst>
          </p:cNvPr>
          <p:cNvSpPr txBox="1"/>
          <p:nvPr/>
        </p:nvSpPr>
        <p:spPr>
          <a:xfrm>
            <a:off x="785589" y="14034415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理想の創作支援の流れ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75FC94C-5DC7-3B30-7AD4-B9C0AFE1D29F}"/>
              </a:ext>
            </a:extLst>
          </p:cNvPr>
          <p:cNvSpPr txBox="1"/>
          <p:nvPr/>
        </p:nvSpPr>
        <p:spPr>
          <a:xfrm>
            <a:off x="1242391" y="21922604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を両立した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画像生成アプリケーションの開発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18CAAD4-7A3C-51A8-0304-FBB6C2808660}"/>
              </a:ext>
            </a:extLst>
          </p:cNvPr>
          <p:cNvSpPr txBox="1"/>
          <p:nvPr/>
        </p:nvSpPr>
        <p:spPr>
          <a:xfrm>
            <a:off x="785589" y="20939427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目標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51384D-2FD1-6299-B4F2-4F3C03E0E9C1}"/>
              </a:ext>
            </a:extLst>
          </p:cNvPr>
          <p:cNvSpPr txBox="1"/>
          <p:nvPr/>
        </p:nvSpPr>
        <p:spPr>
          <a:xfrm>
            <a:off x="803072" y="25208913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漫画顔画像生成モデル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D7002A9-F619-3643-5788-F17F553131E4}"/>
              </a:ext>
            </a:extLst>
          </p:cNvPr>
          <p:cNvSpPr txBox="1"/>
          <p:nvPr/>
        </p:nvSpPr>
        <p:spPr>
          <a:xfrm>
            <a:off x="1259874" y="26174520"/>
            <a:ext cx="13604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ea typeface="Hiragino Sans W3" panose="020B0400000000000000" pitchFamily="34" charset="-128"/>
              </a:rPr>
              <a:t>Stable Diffusion </a:t>
            </a:r>
            <a:r>
              <a:rPr kumimoji="1" lang="en-US" altLang="ja-JP" sz="4000" dirty="0">
                <a:ea typeface="Hiragino Sans W3" panose="020B0400000000000000" pitchFamily="34" charset="-128"/>
              </a:rPr>
              <a:t>[4]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lang="en-US" altLang="ja-JP" sz="4000" b="1" dirty="0" err="1"/>
              <a:t>Tezuka</a:t>
            </a:r>
            <a:r>
              <a:rPr lang="en-US" altLang="ja-JP" sz="4000" b="1" dirty="0"/>
              <a:t> Face Dataset  </a:t>
            </a:r>
            <a:r>
              <a:rPr lang="en-US" altLang="ja-JP" sz="4000" dirty="0"/>
              <a:t>[5] </a:t>
            </a: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で追加学習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39" name="図 38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3274B3A6-314A-C0C2-2CA7-C43CCDFE95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3092"/>
          <a:stretch/>
        </p:blipFill>
        <p:spPr>
          <a:xfrm>
            <a:off x="1282091" y="27794019"/>
            <a:ext cx="6677143" cy="2750058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A24547F-97D6-FA50-23BF-685360B6A6FB}"/>
              </a:ext>
            </a:extLst>
          </p:cNvPr>
          <p:cNvSpPr txBox="1"/>
          <p:nvPr/>
        </p:nvSpPr>
        <p:spPr>
          <a:xfrm>
            <a:off x="2979578" y="30579756"/>
            <a:ext cx="318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©</a:t>
            </a:r>
            <a:r>
              <a:rPr kumimoji="1" lang="ja-JP" altLang="en-US" sz="2400"/>
              <a:t>手塚プロダクション</a:t>
            </a:r>
          </a:p>
        </p:txBody>
      </p:sp>
      <p:pic>
        <p:nvPicPr>
          <p:cNvPr id="41" name="図 40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F9BF90FA-5E9E-FC04-7EBD-0F59377F0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221" y="27814913"/>
            <a:ext cx="5856182" cy="3089833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ABAB66E-D241-852C-D29E-7A9F66C67B64}"/>
              </a:ext>
            </a:extLst>
          </p:cNvPr>
          <p:cNvSpPr txBox="1"/>
          <p:nvPr/>
        </p:nvSpPr>
        <p:spPr>
          <a:xfrm>
            <a:off x="1349068" y="27173574"/>
            <a:ext cx="6446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Tezuka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 Face Dataset (</a:t>
            </a:r>
            <a:r>
              <a:rPr kumimoji="1" lang="en-US" altLang="ja-JP" sz="3600" dirty="0"/>
              <a:t>20,987</a:t>
            </a:r>
            <a:r>
              <a:rPr kumimoji="1" lang="ja-JP" altLang="en-US" sz="3600"/>
              <a:t>枚</a:t>
            </a:r>
            <a:r>
              <a:rPr kumimoji="1" lang="en-US" altLang="ja-JP" sz="3600" dirty="0"/>
              <a:t>)</a:t>
            </a:r>
            <a:endParaRPr kumimoji="1" lang="ja-JP" altLang="en-US" sz="36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0054EC2-1E24-36AF-E706-979D4FB42966}"/>
              </a:ext>
            </a:extLst>
          </p:cNvPr>
          <p:cNvSpPr txBox="1"/>
          <p:nvPr/>
        </p:nvSpPr>
        <p:spPr>
          <a:xfrm>
            <a:off x="8695823" y="27168582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  <a:cs typeface="+mn-cs"/>
              </a:rPr>
              <a:t>生成した漫画顔画像の例</a:t>
            </a:r>
            <a:endParaRPr kumimoji="1" lang="ja-JP" altLang="en-US" sz="16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96DBA18-B9ED-CAF1-6DC7-BE742986A039}"/>
              </a:ext>
            </a:extLst>
          </p:cNvPr>
          <p:cNvSpPr txBox="1"/>
          <p:nvPr/>
        </p:nvSpPr>
        <p:spPr>
          <a:xfrm>
            <a:off x="803071" y="31175666"/>
            <a:ext cx="10224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画像生成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WEB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アプリケーション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6B23734F-F8BF-0C54-7E8D-203FFF5E6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46" y="34885045"/>
            <a:ext cx="13764818" cy="69164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2A87793-62B0-6ED7-3721-C0ECB6750331}"/>
              </a:ext>
            </a:extLst>
          </p:cNvPr>
          <p:cNvSpPr txBox="1"/>
          <p:nvPr/>
        </p:nvSpPr>
        <p:spPr>
          <a:xfrm>
            <a:off x="1259874" y="32198698"/>
            <a:ext cx="1322028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タグを選択し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「ランダム生成」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をクリックすることで</a:t>
            </a:r>
            <a:b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</a:b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提案手法による画像生成を行う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「生成」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では未選択タグを追加せずに生成処理を行う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18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種類のカテゴリからなる合計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374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個のタグを用意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1DAF6FC-0B72-574C-7024-88640F6C0DB8}"/>
              </a:ext>
            </a:extLst>
          </p:cNvPr>
          <p:cNvSpPr/>
          <p:nvPr/>
        </p:nvSpPr>
        <p:spPr>
          <a:xfrm>
            <a:off x="15448020" y="21048871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4.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評価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AE9D230-4EE1-DB67-E677-CF5BF63F9279}"/>
              </a:ext>
            </a:extLst>
          </p:cNvPr>
          <p:cNvSpPr txBox="1"/>
          <p:nvPr/>
        </p:nvSpPr>
        <p:spPr>
          <a:xfrm>
            <a:off x="15690929" y="22695381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定性評価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20B0978-9488-A6F9-0E65-2A7139F7067F}"/>
              </a:ext>
            </a:extLst>
          </p:cNvPr>
          <p:cNvSpPr txBox="1"/>
          <p:nvPr/>
        </p:nvSpPr>
        <p:spPr>
          <a:xfrm>
            <a:off x="16147731" y="23660988"/>
            <a:ext cx="8820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ea typeface="Hiragino Sans W3" panose="020B0400000000000000" pitchFamily="34" charset="-128"/>
              </a:rPr>
              <a:t>「生成」と「ランダム生成」の比較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94D72F0-ACBE-685D-17AC-D9607AF797B0}"/>
              </a:ext>
            </a:extLst>
          </p:cNvPr>
          <p:cNvSpPr txBox="1"/>
          <p:nvPr/>
        </p:nvSpPr>
        <p:spPr>
          <a:xfrm>
            <a:off x="15690928" y="29125263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ユーザーフィードバック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6" name="テキスト ボックス 4">
            <a:extLst>
              <a:ext uri="{FF2B5EF4-FFF2-40B4-BE49-F238E27FC236}">
                <a16:creationId xmlns:a16="http://schemas.microsoft.com/office/drawing/2014/main" id="{7C25B700-C402-E70A-CA70-E3CED14293E4}"/>
              </a:ext>
            </a:extLst>
          </p:cNvPr>
          <p:cNvSpPr txBox="1"/>
          <p:nvPr/>
        </p:nvSpPr>
        <p:spPr>
          <a:xfrm>
            <a:off x="15518003" y="31281338"/>
            <a:ext cx="873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WEB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アプリで期待以上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/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足りない性能はなにか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69F6926-9ED6-CC76-1B12-E8E8A91EC7BB}"/>
              </a:ext>
            </a:extLst>
          </p:cNvPr>
          <p:cNvSpPr txBox="1"/>
          <p:nvPr/>
        </p:nvSpPr>
        <p:spPr>
          <a:xfrm>
            <a:off x="16121666" y="30117045"/>
            <a:ext cx="13540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対象：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TEZUKA2023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に参加した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名のプロクリエイター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58" name="テキスト ボックス 4">
            <a:extLst>
              <a:ext uri="{FF2B5EF4-FFF2-40B4-BE49-F238E27FC236}">
                <a16:creationId xmlns:a16="http://schemas.microsoft.com/office/drawing/2014/main" id="{E01CE93F-883C-8715-6F99-4051E3B5EE3F}"/>
              </a:ext>
            </a:extLst>
          </p:cNvPr>
          <p:cNvSpPr txBox="1"/>
          <p:nvPr/>
        </p:nvSpPr>
        <p:spPr>
          <a:xfrm>
            <a:off x="23993895" y="31304486"/>
            <a:ext cx="585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：ひとりでは生まれないような</a:t>
            </a:r>
            <a:endParaRPr kumimoji="1" lang="en-US" altLang="ja-JP" sz="2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　　キャラクターを創作できたか</a:t>
            </a: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3E6A274A-2559-52DD-35AF-1567E1DD9783}"/>
              </a:ext>
            </a:extLst>
          </p:cNvPr>
          <p:cNvCxnSpPr>
            <a:cxnSpLocks/>
          </p:cNvCxnSpPr>
          <p:nvPr/>
        </p:nvCxnSpPr>
        <p:spPr>
          <a:xfrm>
            <a:off x="23904994" y="31042940"/>
            <a:ext cx="0" cy="425724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DF7A0F3-C59C-ABFC-A631-5ADA09967AFD}"/>
              </a:ext>
            </a:extLst>
          </p:cNvPr>
          <p:cNvSpPr txBox="1"/>
          <p:nvPr/>
        </p:nvSpPr>
        <p:spPr>
          <a:xfrm>
            <a:off x="16226678" y="35395848"/>
            <a:ext cx="123193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：生成結果の品質は期待以上、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は改善が必要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2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を得られた場合があった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7BCCD84-3270-E044-78E3-B4CD6DCCF4BF}"/>
              </a:ext>
            </a:extLst>
          </p:cNvPr>
          <p:cNvGrpSpPr/>
          <p:nvPr/>
        </p:nvGrpSpPr>
        <p:grpSpPr>
          <a:xfrm>
            <a:off x="15954283" y="31715099"/>
            <a:ext cx="7603332" cy="3356778"/>
            <a:chOff x="15664863" y="33998527"/>
            <a:chExt cx="8340516" cy="3851356"/>
          </a:xfrm>
        </p:grpSpPr>
        <p:pic>
          <p:nvPicPr>
            <p:cNvPr id="30" name="図 29" descr="テーブル&#10;&#10;自動的に生成された説明">
              <a:extLst>
                <a:ext uri="{FF2B5EF4-FFF2-40B4-BE49-F238E27FC236}">
                  <a16:creationId xmlns:a16="http://schemas.microsoft.com/office/drawing/2014/main" id="{2A78DD03-4CD0-F107-E27E-C02450376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664863" y="33998527"/>
              <a:ext cx="8340516" cy="3851356"/>
            </a:xfrm>
            <a:prstGeom prst="rect">
              <a:avLst/>
            </a:prstGeom>
          </p:spPr>
        </p:pic>
        <p:sp>
          <p:nvSpPr>
            <p:cNvPr id="62" name="フローチャート: 処理 9">
              <a:extLst>
                <a:ext uri="{FF2B5EF4-FFF2-40B4-BE49-F238E27FC236}">
                  <a16:creationId xmlns:a16="http://schemas.microsoft.com/office/drawing/2014/main" id="{E76E6CCE-3C37-B865-DE46-36631EF33EF1}"/>
                </a:ext>
              </a:extLst>
            </p:cNvPr>
            <p:cNvSpPr/>
            <p:nvPr/>
          </p:nvSpPr>
          <p:spPr>
            <a:xfrm>
              <a:off x="15877931" y="35340927"/>
              <a:ext cx="7215457" cy="793391"/>
            </a:xfrm>
            <a:prstGeom prst="flowChartProcess">
              <a:avLst/>
            </a:prstGeom>
            <a:solidFill>
              <a:srgbClr val="0070C0">
                <a:alpha val="34020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solidFill>
                  <a:srgbClr val="0070C0"/>
                </a:solidFill>
              </a:endParaRPr>
            </a:p>
          </p:txBody>
        </p:sp>
      </p:grpSp>
      <p:sp>
        <p:nvSpPr>
          <p:cNvPr id="63" name="フローチャート: 処理 6">
            <a:extLst>
              <a:ext uri="{FF2B5EF4-FFF2-40B4-BE49-F238E27FC236}">
                <a16:creationId xmlns:a16="http://schemas.microsoft.com/office/drawing/2014/main" id="{77D1BF81-BA3A-D1E8-6128-D81491FE67B6}"/>
              </a:ext>
            </a:extLst>
          </p:cNvPr>
          <p:cNvSpPr/>
          <p:nvPr/>
        </p:nvSpPr>
        <p:spPr>
          <a:xfrm>
            <a:off x="24977219" y="33274107"/>
            <a:ext cx="3500905" cy="435401"/>
          </a:xfrm>
          <a:prstGeom prst="flowChartProcess">
            <a:avLst/>
          </a:prstGeom>
          <a:solidFill>
            <a:srgbClr val="FF0000">
              <a:alpha val="3402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F9137B-1149-8003-0D5C-CACC5169A8F4}"/>
              </a:ext>
            </a:extLst>
          </p:cNvPr>
          <p:cNvSpPr txBox="1"/>
          <p:nvPr/>
        </p:nvSpPr>
        <p:spPr>
          <a:xfrm>
            <a:off x="542678" y="42122169"/>
            <a:ext cx="27793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本研究は、</a:t>
            </a:r>
            <a:r>
              <a:rPr lang="en-US" altLang="ja-JP" sz="28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NEDO </a:t>
            </a:r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人と共に進化する次世代人工知能に関する技術開発事業「インタラクティブなストーリー型コンテンツ創作支援基盤の開発」の助成を受けたものである。</a:t>
            </a:r>
            <a:endParaRPr kumimoji="1" lang="ja-JP" altLang="en-US" sz="280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D65829EF-6308-5669-44F3-9D92BE66FB92}"/>
              </a:ext>
            </a:extLst>
          </p:cNvPr>
          <p:cNvSpPr/>
          <p:nvPr/>
        </p:nvSpPr>
        <p:spPr>
          <a:xfrm>
            <a:off x="15448019" y="38048888"/>
            <a:ext cx="14310579" cy="39004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E3AF04CE-CE09-A951-1C6B-9BE0FFDB6DA9}"/>
              </a:ext>
            </a:extLst>
          </p:cNvPr>
          <p:cNvSpPr/>
          <p:nvPr/>
        </p:nvSpPr>
        <p:spPr>
          <a:xfrm>
            <a:off x="15448019" y="37236085"/>
            <a:ext cx="14310581" cy="884796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参考文献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0D06541-DDEE-2B27-CDF1-F96256AE5EE8}"/>
              </a:ext>
            </a:extLst>
          </p:cNvPr>
          <p:cNvCxnSpPr>
            <a:cxnSpLocks/>
          </p:cNvCxnSpPr>
          <p:nvPr/>
        </p:nvCxnSpPr>
        <p:spPr>
          <a:xfrm flipH="1">
            <a:off x="15421955" y="35228215"/>
            <a:ext cx="14240597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6FFAE3B-B9A7-C0B0-F587-D1DD3F177B62}"/>
              </a:ext>
            </a:extLst>
          </p:cNvPr>
          <p:cNvCxnSpPr>
            <a:cxnSpLocks/>
          </p:cNvCxnSpPr>
          <p:nvPr/>
        </p:nvCxnSpPr>
        <p:spPr>
          <a:xfrm flipH="1">
            <a:off x="15518003" y="30970933"/>
            <a:ext cx="14240597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図 52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76B792F4-10E8-4AC0-8A8B-517DC5F2D6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8910" y="24372012"/>
            <a:ext cx="13932891" cy="452698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FEB0DD8-8C5D-9C85-5A58-8F9F7BE8005B}"/>
              </a:ext>
            </a:extLst>
          </p:cNvPr>
          <p:cNvSpPr/>
          <p:nvPr/>
        </p:nvSpPr>
        <p:spPr>
          <a:xfrm>
            <a:off x="15448020" y="6686841"/>
            <a:ext cx="14310580" cy="1404891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26">
            <a:extLst>
              <a:ext uri="{FF2B5EF4-FFF2-40B4-BE49-F238E27FC236}">
                <a16:creationId xmlns:a16="http://schemas.microsoft.com/office/drawing/2014/main" id="{CD385821-5C3E-BF87-581B-43D0657175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6327853" y="11143736"/>
            <a:ext cx="12531351" cy="7864503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AFFBF52-D12C-0A53-25C5-58733BDFBBDF}"/>
              </a:ext>
            </a:extLst>
          </p:cNvPr>
          <p:cNvSpPr/>
          <p:nvPr/>
        </p:nvSpPr>
        <p:spPr>
          <a:xfrm>
            <a:off x="15448019" y="5168752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2.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提案手法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32C4AB4-4E46-EFD5-70AE-70CB681E5274}"/>
              </a:ext>
            </a:extLst>
          </p:cNvPr>
          <p:cNvSpPr txBox="1"/>
          <p:nvPr/>
        </p:nvSpPr>
        <p:spPr>
          <a:xfrm>
            <a:off x="15690930" y="10115472"/>
            <a:ext cx="9272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タグ選択で</a:t>
            </a: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条件入力を行う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UI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7A8036-4C7C-86D5-7304-4D6FAEC4C0FD}"/>
              </a:ext>
            </a:extLst>
          </p:cNvPr>
          <p:cNvSpPr txBox="1"/>
          <p:nvPr/>
        </p:nvSpPr>
        <p:spPr>
          <a:xfrm>
            <a:off x="15690930" y="6854226"/>
            <a:ext cx="126688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既存の画像生成</a:t>
            </a: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アプリケーション</a:t>
            </a: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 </a:t>
            </a:r>
            <a:r>
              <a:rPr kumimoji="1" lang="en-US" altLang="ja-JP" sz="540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</a:rPr>
              <a:t>[1][2]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0A65C12-6B62-42CD-1192-C120C570838A}"/>
              </a:ext>
            </a:extLst>
          </p:cNvPr>
          <p:cNvSpPr txBox="1"/>
          <p:nvPr/>
        </p:nvSpPr>
        <p:spPr>
          <a:xfrm>
            <a:off x="16147732" y="7868848"/>
            <a:ext cx="1335173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テキストで条件入力を行う</a:t>
            </a:r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UI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を採用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→→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生成結果がクリエイターのアイデアに依存するため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　　</a:t>
            </a: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を持った生成結果が得づらい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452F372-532C-E257-4112-0D82EA36E7D7}"/>
              </a:ext>
            </a:extLst>
          </p:cNvPr>
          <p:cNvSpPr txBox="1"/>
          <p:nvPr/>
        </p:nvSpPr>
        <p:spPr>
          <a:xfrm>
            <a:off x="16147732" y="19102003"/>
            <a:ext cx="13521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選択タグに加えて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未選択タグを条件に追加する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処理を行う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endParaRPr kumimoji="1" lang="en-US" altLang="ja-JP" sz="1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→→ 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を両立することが可能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8367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62F316-3057-CBE5-E21E-ED057866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886" y="13265884"/>
            <a:ext cx="26112371" cy="8273416"/>
          </a:xfrm>
        </p:spPr>
        <p:txBody>
          <a:bodyPr/>
          <a:lstStyle/>
          <a:p>
            <a:endParaRPr kumimoji="1" lang="ja-JP" altLang="en-US"/>
          </a:p>
        </p:txBody>
      </p:sp>
      <p:pic>
        <p:nvPicPr>
          <p:cNvPr id="4" name="コンテンツ プレースホルダー 16" descr="会社名 が含まれている画像&#10;&#10;自動的に生成された説明">
            <a:extLst>
              <a:ext uri="{FF2B5EF4-FFF2-40B4-BE49-F238E27FC236}">
                <a16:creationId xmlns:a16="http://schemas.microsoft.com/office/drawing/2014/main" id="{E617E266-93DF-7FA3-3EB7-5FB6F2329A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481"/>
          <a:stretch/>
        </p:blipFill>
        <p:spPr>
          <a:xfrm>
            <a:off x="3783358" y="14970061"/>
            <a:ext cx="4389120" cy="2534168"/>
          </a:xfrm>
          <a:prstGeom prst="rect">
            <a:avLst/>
          </a:prstGeom>
        </p:spPr>
      </p:pic>
      <p:pic>
        <p:nvPicPr>
          <p:cNvPr id="5" name="図 4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52D7968A-23FF-EA13-E135-EFF540CE33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28" b="27481"/>
          <a:stretch/>
        </p:blipFill>
        <p:spPr>
          <a:xfrm>
            <a:off x="8505371" y="14970060"/>
            <a:ext cx="3643293" cy="2534169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0D82880D-81DC-8CF6-2856-59ACC42D4F0D}"/>
              </a:ext>
            </a:extLst>
          </p:cNvPr>
          <p:cNvSpPr txBox="1">
            <a:spLocks/>
          </p:cNvSpPr>
          <p:nvPr/>
        </p:nvSpPr>
        <p:spPr>
          <a:xfrm>
            <a:off x="4797010" y="17728136"/>
            <a:ext cx="6115278" cy="63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355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4">
                  <a:lumMod val="50000"/>
                </a:schemeClr>
              </a:buClr>
              <a:buFont typeface="Wingdings" pitchFamily="2" charset="2"/>
              <a:buChar char="n"/>
              <a:tabLst/>
              <a:defRPr kumimoji="1" sz="2800" b="1" i="0" kern="1200" baseline="0">
                <a:solidFill>
                  <a:schemeClr val="tx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defRPr>
            </a:lvl1pPr>
            <a:lvl2pPr marL="622300" indent="-2921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l"/>
              <a:tabLst/>
              <a:defRPr kumimoji="1" sz="2400" b="0" i="0" kern="1200" baseline="0">
                <a:solidFill>
                  <a:schemeClr val="tx1"/>
                </a:solidFill>
                <a:latin typeface="Hiragino Sans W5" panose="020B0400000000000000" pitchFamily="34" charset="-128"/>
                <a:ea typeface="Hiragino Sans W5" panose="020B0400000000000000" pitchFamily="34" charset="-128"/>
                <a:cs typeface="+mn-cs"/>
              </a:defRPr>
            </a:lvl2pPr>
            <a:lvl3pPr marL="977900" indent="-2746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bg1">
                  <a:lumMod val="75000"/>
                </a:schemeClr>
              </a:buClr>
              <a:buSzPct val="80000"/>
              <a:buFont typeface="システムフォント（レギュラー）"/>
              <a:buChar char="►"/>
              <a:tabLst/>
              <a:defRPr kumimoji="1" sz="2000" b="0" i="0" kern="1200" baseline="0">
                <a:solidFill>
                  <a:schemeClr val="tx1"/>
                </a:solidFill>
                <a:latin typeface="Hiragino Sans W5" panose="020B0400000000000000" pitchFamily="34" charset="-128"/>
                <a:ea typeface="Hiragino Sans W5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venir Next" panose="020B0503020202020204" pitchFamily="34" charset="0"/>
                <a:ea typeface="ヒラギノ角ゴシック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venir Next" panose="020B0503020202020204" pitchFamily="34" charset="0"/>
                <a:ea typeface="ヒラギノ角ゴシック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400" b="0"/>
              <a:t>選択タグが少ない場合高い</a:t>
            </a:r>
            <a:r>
              <a:rPr lang="ja-JP" altLang="en-US" sz="2400" b="0">
                <a:solidFill>
                  <a:srgbClr val="0070C0"/>
                </a:solidFill>
              </a:rPr>
              <a:t>制御性</a:t>
            </a:r>
            <a:r>
              <a:rPr lang="en-US" altLang="ja-JP" sz="2400" b="0" dirty="0"/>
              <a:t>+</a:t>
            </a:r>
            <a:r>
              <a:rPr lang="ja-JP" altLang="en-US" sz="2400" b="0">
                <a:solidFill>
                  <a:srgbClr val="FF0000"/>
                </a:solidFill>
              </a:rPr>
              <a:t>意外性</a:t>
            </a:r>
            <a:endParaRPr lang="en-US" altLang="ja-JP" sz="2400" b="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17">
            <a:extLst>
              <a:ext uri="{FF2B5EF4-FFF2-40B4-BE49-F238E27FC236}">
                <a16:creationId xmlns:a16="http://schemas.microsoft.com/office/drawing/2014/main" id="{699F82DF-12FC-B8FD-72CC-F361BFFCB5F0}"/>
              </a:ext>
            </a:extLst>
          </p:cNvPr>
          <p:cNvSpPr txBox="1"/>
          <p:nvPr/>
        </p:nvSpPr>
        <p:spPr>
          <a:xfrm>
            <a:off x="3281399" y="17248704"/>
            <a:ext cx="174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（提案手法）</a:t>
            </a:r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0A761E17-4170-C1C7-9B13-443DC31084EF}"/>
              </a:ext>
            </a:extLst>
          </p:cNvPr>
          <p:cNvSpPr/>
          <p:nvPr/>
        </p:nvSpPr>
        <p:spPr>
          <a:xfrm>
            <a:off x="4302891" y="14421843"/>
            <a:ext cx="3869587" cy="1373227"/>
          </a:xfrm>
          <a:custGeom>
            <a:avLst/>
            <a:gdLst>
              <a:gd name="connsiteX0" fmla="*/ 316897 w 3869587"/>
              <a:gd name="connsiteY0" fmla="*/ 0 h 1373227"/>
              <a:gd name="connsiteX1" fmla="*/ 3791530 w 3869587"/>
              <a:gd name="connsiteY1" fmla="*/ 0 h 1373227"/>
              <a:gd name="connsiteX2" fmla="*/ 3869587 w 3869587"/>
              <a:gd name="connsiteY2" fmla="*/ 78057 h 1373227"/>
              <a:gd name="connsiteX3" fmla="*/ 3869587 w 3869587"/>
              <a:gd name="connsiteY3" fmla="*/ 390274 h 1373227"/>
              <a:gd name="connsiteX4" fmla="*/ 3791530 w 3869587"/>
              <a:gd name="connsiteY4" fmla="*/ 468331 h 1373227"/>
              <a:gd name="connsiteX5" fmla="*/ 621624 w 3869587"/>
              <a:gd name="connsiteY5" fmla="*/ 468331 h 1373227"/>
              <a:gd name="connsiteX6" fmla="*/ 0 w 3869587"/>
              <a:gd name="connsiteY6" fmla="*/ 1373227 h 1373227"/>
              <a:gd name="connsiteX7" fmla="*/ 444647 w 3869587"/>
              <a:gd name="connsiteY7" fmla="*/ 468331 h 1373227"/>
              <a:gd name="connsiteX8" fmla="*/ 316897 w 3869587"/>
              <a:gd name="connsiteY8" fmla="*/ 468331 h 1373227"/>
              <a:gd name="connsiteX9" fmla="*/ 238840 w 3869587"/>
              <a:gd name="connsiteY9" fmla="*/ 390274 h 1373227"/>
              <a:gd name="connsiteX10" fmla="*/ 238840 w 3869587"/>
              <a:gd name="connsiteY10" fmla="*/ 78057 h 1373227"/>
              <a:gd name="connsiteX11" fmla="*/ 316897 w 3869587"/>
              <a:gd name="connsiteY11" fmla="*/ 0 h 137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69587" h="1373227">
                <a:moveTo>
                  <a:pt x="316897" y="0"/>
                </a:moveTo>
                <a:lnTo>
                  <a:pt x="3791530" y="0"/>
                </a:lnTo>
                <a:cubicBezTo>
                  <a:pt x="3834640" y="0"/>
                  <a:pt x="3869587" y="34947"/>
                  <a:pt x="3869587" y="78057"/>
                </a:cubicBezTo>
                <a:lnTo>
                  <a:pt x="3869587" y="390274"/>
                </a:lnTo>
                <a:cubicBezTo>
                  <a:pt x="3869587" y="433384"/>
                  <a:pt x="3834640" y="468331"/>
                  <a:pt x="3791530" y="468331"/>
                </a:cubicBezTo>
                <a:lnTo>
                  <a:pt x="621624" y="468331"/>
                </a:lnTo>
                <a:lnTo>
                  <a:pt x="0" y="1373227"/>
                </a:lnTo>
                <a:lnTo>
                  <a:pt x="444647" y="468331"/>
                </a:lnTo>
                <a:lnTo>
                  <a:pt x="316897" y="468331"/>
                </a:lnTo>
                <a:cubicBezTo>
                  <a:pt x="273787" y="468331"/>
                  <a:pt x="238840" y="433384"/>
                  <a:pt x="238840" y="390274"/>
                </a:cubicBezTo>
                <a:lnTo>
                  <a:pt x="238840" y="78057"/>
                </a:lnTo>
                <a:cubicBezTo>
                  <a:pt x="238840" y="34947"/>
                  <a:pt x="273787" y="0"/>
                  <a:pt x="316897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JP"/>
          </a:p>
        </p:txBody>
      </p:sp>
      <p:sp>
        <p:nvSpPr>
          <p:cNvPr id="9" name="テキスト ボックス 17">
            <a:extLst>
              <a:ext uri="{FF2B5EF4-FFF2-40B4-BE49-F238E27FC236}">
                <a16:creationId xmlns:a16="http://schemas.microsoft.com/office/drawing/2014/main" id="{E1EC84CF-B58F-6129-F4AE-E2E89F49F833}"/>
              </a:ext>
            </a:extLst>
          </p:cNvPr>
          <p:cNvSpPr txBox="1"/>
          <p:nvPr/>
        </p:nvSpPr>
        <p:spPr>
          <a:xfrm>
            <a:off x="4613602" y="14455953"/>
            <a:ext cx="3487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2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を向上させる工夫なし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356FC69E-B79B-39F3-41EB-7CFAC200B993}"/>
              </a:ext>
            </a:extLst>
          </p:cNvPr>
          <p:cNvSpPr/>
          <p:nvPr/>
        </p:nvSpPr>
        <p:spPr>
          <a:xfrm>
            <a:off x="4576672" y="16552781"/>
            <a:ext cx="7494500" cy="1034273"/>
          </a:xfrm>
          <a:prstGeom prst="rect">
            <a:avLst/>
          </a:prstGeom>
          <a:noFill/>
          <a:ln w="28575">
            <a:solidFill>
              <a:srgbClr val="FF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dirty="0"/>
              <a:t>v</a:t>
            </a:r>
            <a:endParaRPr kumimoji="1" lang="en-JP"/>
          </a:p>
        </p:txBody>
      </p:sp>
      <p:sp>
        <p:nvSpPr>
          <p:cNvPr id="11" name="Rounded Rectangular Callout 15">
            <a:extLst>
              <a:ext uri="{FF2B5EF4-FFF2-40B4-BE49-F238E27FC236}">
                <a16:creationId xmlns:a16="http://schemas.microsoft.com/office/drawing/2014/main" id="{7C576C6B-A11C-55D7-72C4-CE90AEEBB043}"/>
              </a:ext>
            </a:extLst>
          </p:cNvPr>
          <p:cNvSpPr/>
          <p:nvPr/>
        </p:nvSpPr>
        <p:spPr>
          <a:xfrm>
            <a:off x="4797010" y="17728135"/>
            <a:ext cx="6115277" cy="605017"/>
          </a:xfrm>
          <a:prstGeom prst="wedgeRoundRectCallout">
            <a:avLst>
              <a:gd name="adj1" fmla="val 21839"/>
              <a:gd name="adj2" fmla="val -64013"/>
              <a:gd name="adj3" fmla="val 16667"/>
            </a:avLst>
          </a:prstGeom>
          <a:noFill/>
          <a:ln w="19050">
            <a:solidFill>
              <a:srgbClr val="FF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JP"/>
          </a:p>
        </p:txBody>
      </p:sp>
      <p:pic>
        <p:nvPicPr>
          <p:cNvPr id="13" name="図 12" descr="会社名 が含まれている画像&#10;&#10;自動的に生成された説明">
            <a:extLst>
              <a:ext uri="{FF2B5EF4-FFF2-40B4-BE49-F238E27FC236}">
                <a16:creationId xmlns:a16="http://schemas.microsoft.com/office/drawing/2014/main" id="{4B51E37E-26BA-99B1-7530-3D621DC7FB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172" b="23742"/>
          <a:stretch/>
        </p:blipFill>
        <p:spPr>
          <a:xfrm>
            <a:off x="12494104" y="14970060"/>
            <a:ext cx="3788285" cy="2664798"/>
          </a:xfrm>
          <a:prstGeom prst="rect">
            <a:avLst/>
          </a:prstGeom>
        </p:spPr>
      </p:pic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572BD198-D377-5B04-CE67-130F8F775729}"/>
              </a:ext>
            </a:extLst>
          </p:cNvPr>
          <p:cNvSpPr/>
          <p:nvPr/>
        </p:nvSpPr>
        <p:spPr>
          <a:xfrm>
            <a:off x="13291034" y="15002716"/>
            <a:ext cx="457623" cy="370448"/>
          </a:xfrm>
          <a:prstGeom prst="flowChartProcess">
            <a:avLst/>
          </a:prstGeom>
          <a:solidFill>
            <a:schemeClr val="accent4">
              <a:lumMod val="60000"/>
              <a:lumOff val="40000"/>
              <a:alpha val="50196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乗算記号 15">
            <a:extLst>
              <a:ext uri="{FF2B5EF4-FFF2-40B4-BE49-F238E27FC236}">
                <a16:creationId xmlns:a16="http://schemas.microsoft.com/office/drawing/2014/main" id="{CCC8BC6C-49ED-3502-E6A8-FE2FF9059523}"/>
              </a:ext>
            </a:extLst>
          </p:cNvPr>
          <p:cNvSpPr/>
          <p:nvPr/>
        </p:nvSpPr>
        <p:spPr>
          <a:xfrm>
            <a:off x="12494104" y="15438507"/>
            <a:ext cx="426720" cy="424543"/>
          </a:xfrm>
          <a:prstGeom prst="mathMultiply">
            <a:avLst/>
          </a:prstGeom>
          <a:solidFill>
            <a:schemeClr val="accent4">
              <a:lumMod val="60000"/>
              <a:lumOff val="40000"/>
              <a:alpha val="80392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乗算記号 16">
            <a:extLst>
              <a:ext uri="{FF2B5EF4-FFF2-40B4-BE49-F238E27FC236}">
                <a16:creationId xmlns:a16="http://schemas.microsoft.com/office/drawing/2014/main" id="{34BFC337-EA9D-BD00-1143-6062956CBF92}"/>
              </a:ext>
            </a:extLst>
          </p:cNvPr>
          <p:cNvSpPr/>
          <p:nvPr/>
        </p:nvSpPr>
        <p:spPr>
          <a:xfrm>
            <a:off x="13821128" y="16614101"/>
            <a:ext cx="426720" cy="424543"/>
          </a:xfrm>
          <a:prstGeom prst="mathMultiply">
            <a:avLst/>
          </a:prstGeom>
          <a:solidFill>
            <a:schemeClr val="accent4">
              <a:lumMod val="60000"/>
              <a:lumOff val="40000"/>
              <a:alpha val="80392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乗算記号 17">
            <a:extLst>
              <a:ext uri="{FF2B5EF4-FFF2-40B4-BE49-F238E27FC236}">
                <a16:creationId xmlns:a16="http://schemas.microsoft.com/office/drawing/2014/main" id="{984C22C3-F252-EFA2-82D3-78455DAA225E}"/>
              </a:ext>
            </a:extLst>
          </p:cNvPr>
          <p:cNvSpPr/>
          <p:nvPr/>
        </p:nvSpPr>
        <p:spPr>
          <a:xfrm>
            <a:off x="15089346" y="16660930"/>
            <a:ext cx="426720" cy="424543"/>
          </a:xfrm>
          <a:prstGeom prst="mathMultiply">
            <a:avLst/>
          </a:prstGeom>
          <a:solidFill>
            <a:schemeClr val="accent4">
              <a:lumMod val="60000"/>
              <a:lumOff val="40000"/>
              <a:alpha val="80392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乗算記号 18">
            <a:extLst>
              <a:ext uri="{FF2B5EF4-FFF2-40B4-BE49-F238E27FC236}">
                <a16:creationId xmlns:a16="http://schemas.microsoft.com/office/drawing/2014/main" id="{47528932-E16E-42BA-14CD-ECB41AB00666}"/>
              </a:ext>
            </a:extLst>
          </p:cNvPr>
          <p:cNvSpPr/>
          <p:nvPr/>
        </p:nvSpPr>
        <p:spPr>
          <a:xfrm>
            <a:off x="13766380" y="15440743"/>
            <a:ext cx="426720" cy="424543"/>
          </a:xfrm>
          <a:prstGeom prst="mathMultiply">
            <a:avLst/>
          </a:prstGeom>
          <a:solidFill>
            <a:schemeClr val="accent4">
              <a:lumMod val="60000"/>
              <a:lumOff val="40000"/>
              <a:alpha val="80392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B8F54FF-C216-BCCB-1EBB-3535BADAD48B}"/>
              </a:ext>
            </a:extLst>
          </p:cNvPr>
          <p:cNvSpPr/>
          <p:nvPr/>
        </p:nvSpPr>
        <p:spPr>
          <a:xfrm>
            <a:off x="12416612" y="15438507"/>
            <a:ext cx="3788285" cy="2224282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dirty="0"/>
              <a:t>v</a:t>
            </a:r>
            <a:endParaRPr kumimoji="1" lang="en-JP"/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D70F67D7-E79A-84ED-A192-53F4DBB44B41}"/>
              </a:ext>
            </a:extLst>
          </p:cNvPr>
          <p:cNvSpPr txBox="1">
            <a:spLocks/>
          </p:cNvSpPr>
          <p:nvPr/>
        </p:nvSpPr>
        <p:spPr>
          <a:xfrm>
            <a:off x="11433922" y="17779200"/>
            <a:ext cx="4852390" cy="103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355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4">
                  <a:lumMod val="50000"/>
                </a:schemeClr>
              </a:buClr>
              <a:buFont typeface="Wingdings" pitchFamily="2" charset="2"/>
              <a:buChar char="n"/>
              <a:tabLst/>
              <a:defRPr kumimoji="1" sz="2800" b="1" i="0" kern="1200" baseline="0">
                <a:solidFill>
                  <a:schemeClr val="tx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defRPr>
            </a:lvl1pPr>
            <a:lvl2pPr marL="622300" indent="-2921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l"/>
              <a:tabLst/>
              <a:defRPr kumimoji="1" sz="2400" b="0" i="0" kern="1200" baseline="0">
                <a:solidFill>
                  <a:schemeClr val="tx1"/>
                </a:solidFill>
                <a:latin typeface="Hiragino Sans W5" panose="020B0400000000000000" pitchFamily="34" charset="-128"/>
                <a:ea typeface="Hiragino Sans W5" panose="020B0400000000000000" pitchFamily="34" charset="-128"/>
                <a:cs typeface="+mn-cs"/>
              </a:defRPr>
            </a:lvl2pPr>
            <a:lvl3pPr marL="977900" indent="-274638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bg1">
                  <a:lumMod val="75000"/>
                </a:schemeClr>
              </a:buClr>
              <a:buSzPct val="80000"/>
              <a:buFont typeface="システムフォント（レギュラー）"/>
              <a:buChar char="►"/>
              <a:tabLst/>
              <a:defRPr kumimoji="1" sz="2000" b="0" i="0" kern="1200" baseline="0">
                <a:solidFill>
                  <a:schemeClr val="tx1"/>
                </a:solidFill>
                <a:latin typeface="Hiragino Sans W5" panose="020B0400000000000000" pitchFamily="34" charset="-128"/>
                <a:ea typeface="Hiragino Sans W5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venir Next" panose="020B0503020202020204" pitchFamily="34" charset="0"/>
                <a:ea typeface="ヒラギノ角ゴシック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venir Next" panose="020B0503020202020204" pitchFamily="34" charset="0"/>
                <a:ea typeface="ヒラギノ角ゴシック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400" b="0"/>
              <a:t>選択タグが多い場合低い</a:t>
            </a:r>
            <a:r>
              <a:rPr lang="ja-JP" altLang="en-US" sz="2400" b="0">
                <a:solidFill>
                  <a:srgbClr val="0070C0"/>
                </a:solidFill>
              </a:rPr>
              <a:t>制御性</a:t>
            </a:r>
            <a:endParaRPr lang="en-US" altLang="ja-JP" sz="2400" b="0" dirty="0">
              <a:solidFill>
                <a:srgbClr val="FF7A84"/>
              </a:solidFill>
            </a:endParaRPr>
          </a:p>
        </p:txBody>
      </p:sp>
      <p:sp>
        <p:nvSpPr>
          <p:cNvPr id="24" name="Rounded Rectangular Callout 15">
            <a:extLst>
              <a:ext uri="{FF2B5EF4-FFF2-40B4-BE49-F238E27FC236}">
                <a16:creationId xmlns:a16="http://schemas.microsoft.com/office/drawing/2014/main" id="{247A29CC-4DBE-63E1-666A-312F1D861985}"/>
              </a:ext>
            </a:extLst>
          </p:cNvPr>
          <p:cNvSpPr/>
          <p:nvPr/>
        </p:nvSpPr>
        <p:spPr>
          <a:xfrm>
            <a:off x="11402483" y="17807131"/>
            <a:ext cx="4852390" cy="526021"/>
          </a:xfrm>
          <a:prstGeom prst="wedgeRoundRectCallout">
            <a:avLst>
              <a:gd name="adj1" fmla="val 21839"/>
              <a:gd name="adj2" fmla="val -64013"/>
              <a:gd name="adj3" fmla="val 16667"/>
            </a:avLst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JP"/>
          </a:p>
        </p:txBody>
      </p:sp>
      <p:pic>
        <p:nvPicPr>
          <p:cNvPr id="25" name="Picture 2" descr="生成された画像">
            <a:extLst>
              <a:ext uri="{FF2B5EF4-FFF2-40B4-BE49-F238E27FC236}">
                <a16:creationId xmlns:a16="http://schemas.microsoft.com/office/drawing/2014/main" id="{FB9981E5-6D98-8ED2-CDE9-929092824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050" y="4616921"/>
            <a:ext cx="1778591" cy="177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EFFD331-0ECD-419F-49F0-6EE687EE5DF1}"/>
              </a:ext>
            </a:extLst>
          </p:cNvPr>
          <p:cNvSpPr txBox="1"/>
          <p:nvPr/>
        </p:nvSpPr>
        <p:spPr>
          <a:xfrm>
            <a:off x="117162" y="3009484"/>
            <a:ext cx="5618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0F0F0F"/>
                </a:solidFill>
                <a:effectLst/>
                <a:latin typeface="Söhne"/>
              </a:rPr>
              <a:t>A portly man with a prominent mustache, </a:t>
            </a:r>
          </a:p>
          <a:p>
            <a:r>
              <a:rPr lang="en-US" altLang="ja-JP" dirty="0">
                <a:solidFill>
                  <a:srgbClr val="0F0F0F"/>
                </a:solidFill>
                <a:effectLst/>
                <a:latin typeface="Söhne"/>
              </a:rPr>
              <a:t>large nose, and wearing glasses, </a:t>
            </a:r>
          </a:p>
          <a:p>
            <a:r>
              <a:rPr lang="en-US" altLang="ja-JP" dirty="0">
                <a:solidFill>
                  <a:srgbClr val="0F0F0F"/>
                </a:solidFill>
                <a:effectLst/>
                <a:latin typeface="Söhne"/>
              </a:rPr>
              <a:t>manga-character, male, glasses, mustache, fat, large nose</a:t>
            </a:r>
            <a:endParaRPr kumimoji="1" lang="ja-JP" altLang="en-US"/>
          </a:p>
        </p:txBody>
      </p:sp>
      <p:sp>
        <p:nvSpPr>
          <p:cNvPr id="27" name="加算記号 26">
            <a:extLst>
              <a:ext uri="{FF2B5EF4-FFF2-40B4-BE49-F238E27FC236}">
                <a16:creationId xmlns:a16="http://schemas.microsoft.com/office/drawing/2014/main" id="{14F294BE-66EC-B9AA-7FA7-FA5D5C7DB81D}"/>
              </a:ext>
            </a:extLst>
          </p:cNvPr>
          <p:cNvSpPr/>
          <p:nvPr/>
        </p:nvSpPr>
        <p:spPr>
          <a:xfrm>
            <a:off x="2009368" y="1931832"/>
            <a:ext cx="540000" cy="540000"/>
          </a:xfrm>
          <a:prstGeom prst="mathPlus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98BBF4-324B-CB64-C675-B08F4CDCF62E}"/>
              </a:ext>
            </a:extLst>
          </p:cNvPr>
          <p:cNvSpPr txBox="1"/>
          <p:nvPr/>
        </p:nvSpPr>
        <p:spPr>
          <a:xfrm>
            <a:off x="4546567" y="723054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>
                <a:solidFill>
                  <a:srgbClr val="F57A84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ユーザー選択タグ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C21C883-C225-382C-0686-748A9F645A95}"/>
              </a:ext>
            </a:extLst>
          </p:cNvPr>
          <p:cNvSpPr txBox="1"/>
          <p:nvPr/>
        </p:nvSpPr>
        <p:spPr>
          <a:xfrm>
            <a:off x="3777125" y="4661794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>
                <a:solidFill>
                  <a:srgbClr val="F57A84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キャラクターデザイン出力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F35AD5B-08ED-4F47-0EDF-24169E45AE06}"/>
              </a:ext>
            </a:extLst>
          </p:cNvPr>
          <p:cNvCxnSpPr>
            <a:cxnSpLocks/>
          </p:cNvCxnSpPr>
          <p:nvPr/>
        </p:nvCxnSpPr>
        <p:spPr>
          <a:xfrm>
            <a:off x="221550" y="1545994"/>
            <a:ext cx="574598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942FA7A-9E09-ABB1-14D6-1D76C6EAA497}"/>
              </a:ext>
            </a:extLst>
          </p:cNvPr>
          <p:cNvCxnSpPr>
            <a:cxnSpLocks/>
          </p:cNvCxnSpPr>
          <p:nvPr/>
        </p:nvCxnSpPr>
        <p:spPr>
          <a:xfrm>
            <a:off x="200817" y="2819381"/>
            <a:ext cx="574598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C06FB57-94FA-396F-55B1-75D84DFD6533}"/>
              </a:ext>
            </a:extLst>
          </p:cNvPr>
          <p:cNvCxnSpPr>
            <a:cxnSpLocks/>
          </p:cNvCxnSpPr>
          <p:nvPr/>
        </p:nvCxnSpPr>
        <p:spPr>
          <a:xfrm>
            <a:off x="200817" y="4225268"/>
            <a:ext cx="574598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下矢印 32">
            <a:extLst>
              <a:ext uri="{FF2B5EF4-FFF2-40B4-BE49-F238E27FC236}">
                <a16:creationId xmlns:a16="http://schemas.microsoft.com/office/drawing/2014/main" id="{89FCA578-BB96-18FF-AF2D-A1FCABFCB1B4}"/>
              </a:ext>
            </a:extLst>
          </p:cNvPr>
          <p:cNvSpPr/>
          <p:nvPr/>
        </p:nvSpPr>
        <p:spPr>
          <a:xfrm>
            <a:off x="5625457" y="1228666"/>
            <a:ext cx="489098" cy="659219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41374F4-A6D6-0753-E6D1-D11C0C507F29}"/>
              </a:ext>
            </a:extLst>
          </p:cNvPr>
          <p:cNvSpPr txBox="1"/>
          <p:nvPr/>
        </p:nvSpPr>
        <p:spPr>
          <a:xfrm>
            <a:off x="6142857" y="1297682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ランダムでタグ追加</a:t>
            </a:r>
          </a:p>
        </p:txBody>
      </p:sp>
      <p:sp>
        <p:nvSpPr>
          <p:cNvPr id="35" name="下矢印 34">
            <a:extLst>
              <a:ext uri="{FF2B5EF4-FFF2-40B4-BE49-F238E27FC236}">
                <a16:creationId xmlns:a16="http://schemas.microsoft.com/office/drawing/2014/main" id="{E55CB8B6-55EE-0D20-5B75-DE0350A59565}"/>
              </a:ext>
            </a:extLst>
          </p:cNvPr>
          <p:cNvSpPr/>
          <p:nvPr/>
        </p:nvSpPr>
        <p:spPr>
          <a:xfrm>
            <a:off x="5625457" y="2499971"/>
            <a:ext cx="489098" cy="659219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下矢印 35">
            <a:extLst>
              <a:ext uri="{FF2B5EF4-FFF2-40B4-BE49-F238E27FC236}">
                <a16:creationId xmlns:a16="http://schemas.microsoft.com/office/drawing/2014/main" id="{91DB58AF-9F85-FB21-6DF9-8BE424486D47}"/>
              </a:ext>
            </a:extLst>
          </p:cNvPr>
          <p:cNvSpPr/>
          <p:nvPr/>
        </p:nvSpPr>
        <p:spPr>
          <a:xfrm>
            <a:off x="5625457" y="3876565"/>
            <a:ext cx="489098" cy="659219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5C4746F-2174-154B-5871-241D6E0B8359}"/>
              </a:ext>
            </a:extLst>
          </p:cNvPr>
          <p:cNvSpPr txBox="1"/>
          <p:nvPr/>
        </p:nvSpPr>
        <p:spPr>
          <a:xfrm>
            <a:off x="6142857" y="2588548"/>
            <a:ext cx="3490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GPT[3]</a:t>
            </a:r>
            <a:r>
              <a:rPr kumimoji="1" lang="ja-JP" altLang="en-US" sz="2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でテキスト変換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D41D7EA-4A9D-76F7-C9A1-35B4AF6DDD77}"/>
              </a:ext>
            </a:extLst>
          </p:cNvPr>
          <p:cNvSpPr txBox="1"/>
          <p:nvPr/>
        </p:nvSpPr>
        <p:spPr>
          <a:xfrm>
            <a:off x="6114555" y="3994435"/>
            <a:ext cx="2938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画像生成モデル入力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F30E1FE-4430-55A1-8AF6-6214C6E01FD8}"/>
              </a:ext>
            </a:extLst>
          </p:cNvPr>
          <p:cNvSpPr txBox="1"/>
          <p:nvPr/>
        </p:nvSpPr>
        <p:spPr>
          <a:xfrm>
            <a:off x="268949" y="790982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男性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EADC409-C0EF-327C-DABD-08050ACC1F7A}"/>
              </a:ext>
            </a:extLst>
          </p:cNvPr>
          <p:cNvSpPr txBox="1"/>
          <p:nvPr/>
        </p:nvSpPr>
        <p:spPr>
          <a:xfrm>
            <a:off x="1024099" y="789820"/>
            <a:ext cx="877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メガネ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C53A042-362C-A0C2-6790-B931752E4D83}"/>
              </a:ext>
            </a:extLst>
          </p:cNvPr>
          <p:cNvSpPr txBox="1"/>
          <p:nvPr/>
        </p:nvSpPr>
        <p:spPr>
          <a:xfrm>
            <a:off x="269662" y="2022584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男性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FBC8A1E-F9DA-D14D-42C1-33A0AFE25A9B}"/>
              </a:ext>
            </a:extLst>
          </p:cNvPr>
          <p:cNvSpPr txBox="1"/>
          <p:nvPr/>
        </p:nvSpPr>
        <p:spPr>
          <a:xfrm>
            <a:off x="1024099" y="2022584"/>
            <a:ext cx="877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メガネ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9F2B078-34F8-2E31-02CD-8FC7C1061601}"/>
              </a:ext>
            </a:extLst>
          </p:cNvPr>
          <p:cNvSpPr txBox="1"/>
          <p:nvPr/>
        </p:nvSpPr>
        <p:spPr>
          <a:xfrm>
            <a:off x="2657474" y="2022584"/>
            <a:ext cx="11079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大きな鼻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D225219-4D86-671F-4DDA-8B50C3852183}"/>
              </a:ext>
            </a:extLst>
          </p:cNvPr>
          <p:cNvSpPr txBox="1"/>
          <p:nvPr/>
        </p:nvSpPr>
        <p:spPr>
          <a:xfrm>
            <a:off x="3873576" y="2022584"/>
            <a:ext cx="877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口ひげ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51C65D3-8824-04B2-F1BC-F4DD165285A4}"/>
              </a:ext>
            </a:extLst>
          </p:cNvPr>
          <p:cNvSpPr txBox="1"/>
          <p:nvPr/>
        </p:nvSpPr>
        <p:spPr>
          <a:xfrm>
            <a:off x="4858845" y="2017166"/>
            <a:ext cx="8771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太った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22993CB5-A763-8DDC-4E69-CED64AF4DAC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0754" y="5149625"/>
            <a:ext cx="2928938" cy="297180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E420B63C-A54D-1D5C-1E32-D864EE469DA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86723" y="3876565"/>
            <a:ext cx="2974519" cy="2348304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E7038560-E3E7-EAF2-E6FA-058E2DB928F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86723" y="6281656"/>
            <a:ext cx="2969150" cy="3116555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29947617-1178-04DA-4C55-E08364CCB2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35965" y="3876565"/>
            <a:ext cx="3532815" cy="5517920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778F9C1-2C87-EC8F-493D-94A6C63B356B}"/>
              </a:ext>
            </a:extLst>
          </p:cNvPr>
          <p:cNvSpPr txBox="1"/>
          <p:nvPr/>
        </p:nvSpPr>
        <p:spPr>
          <a:xfrm>
            <a:off x="13768015" y="8394215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採用した生成画像</a:t>
            </a:r>
          </a:p>
        </p:txBody>
      </p:sp>
      <p:sp>
        <p:nvSpPr>
          <p:cNvPr id="59" name="右矢印 58">
            <a:extLst>
              <a:ext uri="{FF2B5EF4-FFF2-40B4-BE49-F238E27FC236}">
                <a16:creationId xmlns:a16="http://schemas.microsoft.com/office/drawing/2014/main" id="{FDB31DA5-8DBC-512E-10C9-F5211D86D4D8}"/>
              </a:ext>
            </a:extLst>
          </p:cNvPr>
          <p:cNvSpPr/>
          <p:nvPr/>
        </p:nvSpPr>
        <p:spPr bwMode="auto">
          <a:xfrm>
            <a:off x="17477441" y="6052429"/>
            <a:ext cx="715618" cy="116619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4EC28DF5-1BB3-0272-B704-3D8FBBED6732}"/>
              </a:ext>
            </a:extLst>
          </p:cNvPr>
          <p:cNvSpPr txBox="1"/>
          <p:nvPr/>
        </p:nvSpPr>
        <p:spPr>
          <a:xfrm>
            <a:off x="18208883" y="9455132"/>
            <a:ext cx="89050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クリエイターによる最終的なデザイン</a:t>
            </a: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30E63B28-E133-4CCB-EE15-4E01508A8AA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3437" y="33301106"/>
            <a:ext cx="2928938" cy="2971800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D32DC215-A7A0-338C-C31A-905B62389C6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9406" y="32028046"/>
            <a:ext cx="2974519" cy="2348304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46589E6A-9DC5-206B-3F2F-1D6CD4B5E29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9406" y="34433137"/>
            <a:ext cx="2969150" cy="3116555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AA807096-1142-013F-8EDD-525AB95CA5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58648" y="32028046"/>
            <a:ext cx="3532815" cy="5517920"/>
          </a:xfrm>
          <a:prstGeom prst="rect">
            <a:avLst/>
          </a:prstGeom>
        </p:spPr>
      </p:pic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B5412BD-39F4-B420-1E28-7EE47BE6AD13}"/>
              </a:ext>
            </a:extLst>
          </p:cNvPr>
          <p:cNvSpPr txBox="1"/>
          <p:nvPr/>
        </p:nvSpPr>
        <p:spPr>
          <a:xfrm>
            <a:off x="1882243" y="3637802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生成画像</a:t>
            </a:r>
          </a:p>
        </p:txBody>
      </p:sp>
      <p:sp>
        <p:nvSpPr>
          <p:cNvPr id="67" name="右矢印 66">
            <a:extLst>
              <a:ext uri="{FF2B5EF4-FFF2-40B4-BE49-F238E27FC236}">
                <a16:creationId xmlns:a16="http://schemas.microsoft.com/office/drawing/2014/main" id="{7B410CB8-55F3-97DA-D488-259A1F4D227C}"/>
              </a:ext>
            </a:extLst>
          </p:cNvPr>
          <p:cNvSpPr/>
          <p:nvPr/>
        </p:nvSpPr>
        <p:spPr bwMode="auto">
          <a:xfrm>
            <a:off x="4590706" y="34074489"/>
            <a:ext cx="1009282" cy="1425033"/>
          </a:xfrm>
          <a:prstGeom prst="rightArrow">
            <a:avLst/>
          </a:prstGeom>
          <a:solidFill>
            <a:srgbClr val="3E389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5553A25-683B-A8E5-7D9B-D628698386C2}"/>
              </a:ext>
            </a:extLst>
          </p:cNvPr>
          <p:cNvSpPr txBox="1"/>
          <p:nvPr/>
        </p:nvSpPr>
        <p:spPr>
          <a:xfrm>
            <a:off x="5214917" y="37604568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クリエイターによる最終的なデザイン</a:t>
            </a:r>
          </a:p>
        </p:txBody>
      </p:sp>
    </p:spTree>
    <p:extLst>
      <p:ext uri="{BB962C8B-B14F-4D97-AF65-F5344CB8AC3E}">
        <p14:creationId xmlns:p14="http://schemas.microsoft.com/office/powerpoint/2010/main" val="39168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017064F-FD2B-62B5-BB97-DFB22437D5EC}"/>
              </a:ext>
            </a:extLst>
          </p:cNvPr>
          <p:cNvSpPr/>
          <p:nvPr/>
        </p:nvSpPr>
        <p:spPr>
          <a:xfrm>
            <a:off x="15448020" y="26282484"/>
            <a:ext cx="14310580" cy="1511116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 descr="アイコン&#10;&#10;自動的に生成された説明">
            <a:extLst>
              <a:ext uri="{FF2B5EF4-FFF2-40B4-BE49-F238E27FC236}">
                <a16:creationId xmlns:a16="http://schemas.microsoft.com/office/drawing/2014/main" id="{855168F0-BFF7-3BDF-21DF-0B99E490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9948" y="42024121"/>
            <a:ext cx="1339319" cy="72323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9" y="6700273"/>
            <a:ext cx="14310580" cy="1593294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7007013" y="3500482"/>
            <a:ext cx="162611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48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>
            <a:cxnSpLocks/>
          </p:cNvCxnSpPr>
          <p:nvPr/>
        </p:nvCxnSpPr>
        <p:spPr>
          <a:xfrm>
            <a:off x="542678" y="256345"/>
            <a:ext cx="288487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>
            <a:cxnSpLocks/>
          </p:cNvCxnSpPr>
          <p:nvPr/>
        </p:nvCxnSpPr>
        <p:spPr>
          <a:xfrm>
            <a:off x="542678" y="3367095"/>
            <a:ext cx="2878599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182184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1.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研究背景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F29C1A8-FC53-A5B8-84D0-F09D6CA8F530}"/>
              </a:ext>
            </a:extLst>
          </p:cNvPr>
          <p:cNvSpPr/>
          <p:nvPr/>
        </p:nvSpPr>
        <p:spPr>
          <a:xfrm>
            <a:off x="560163" y="24550586"/>
            <a:ext cx="14310580" cy="1363167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E4224-E935-F1A7-F38B-9DF0C7F61EBD}"/>
              </a:ext>
            </a:extLst>
          </p:cNvPr>
          <p:cNvSpPr/>
          <p:nvPr/>
        </p:nvSpPr>
        <p:spPr>
          <a:xfrm>
            <a:off x="560163" y="23039891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3.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創作支援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61E34-7134-20DC-ECE7-D079D7895704}"/>
              </a:ext>
            </a:extLst>
          </p:cNvPr>
          <p:cNvSpPr txBox="1"/>
          <p:nvPr/>
        </p:nvSpPr>
        <p:spPr>
          <a:xfrm>
            <a:off x="785589" y="6822483"/>
            <a:ext cx="5287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5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TEZUKA2023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1DAF6FC-0B72-574C-7024-88640F6C0DB8}"/>
              </a:ext>
            </a:extLst>
          </p:cNvPr>
          <p:cNvSpPr/>
          <p:nvPr/>
        </p:nvSpPr>
        <p:spPr>
          <a:xfrm>
            <a:off x="15448020" y="25555555"/>
            <a:ext cx="14310580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4. 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ユーザーフィードバック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F9137B-1149-8003-0D5C-CACC5169A8F4}"/>
              </a:ext>
            </a:extLst>
          </p:cNvPr>
          <p:cNvSpPr txBox="1"/>
          <p:nvPr/>
        </p:nvSpPr>
        <p:spPr>
          <a:xfrm>
            <a:off x="542678" y="42122169"/>
            <a:ext cx="27793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本研究は、</a:t>
            </a:r>
            <a:r>
              <a:rPr lang="en-US" altLang="ja-JP" sz="28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NEDO </a:t>
            </a:r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人と共に進化する次世代人工知能に関する技術開発事業「インタラクティブなストーリー型コンテンツ創作支援基盤の開発」の助成を受けたものである。</a:t>
            </a:r>
            <a:endParaRPr kumimoji="1" lang="ja-JP" altLang="en-US" sz="280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FEB0DD8-8C5D-9C85-5A58-8F9F7BE8005B}"/>
              </a:ext>
            </a:extLst>
          </p:cNvPr>
          <p:cNvSpPr/>
          <p:nvPr/>
        </p:nvSpPr>
        <p:spPr>
          <a:xfrm>
            <a:off x="15448020" y="6686841"/>
            <a:ext cx="14310580" cy="1720837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AFFBF52-D12C-0A53-25C5-58733BDFBBDF}"/>
              </a:ext>
            </a:extLst>
          </p:cNvPr>
          <p:cNvSpPr/>
          <p:nvPr/>
        </p:nvSpPr>
        <p:spPr>
          <a:xfrm>
            <a:off x="15448019" y="5168752"/>
            <a:ext cx="14310581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2.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 ユーザーインターフェース開発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4A65B85-0DE3-E191-F461-3E9713E6E5BC}"/>
              </a:ext>
            </a:extLst>
          </p:cNvPr>
          <p:cNvSpPr txBox="1"/>
          <p:nvPr/>
        </p:nvSpPr>
        <p:spPr>
          <a:xfrm>
            <a:off x="16777762" y="27535431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ユーザーフィードバック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EE9F18B-41C1-D06B-ABCC-65DF5DAA2600}"/>
              </a:ext>
            </a:extLst>
          </p:cNvPr>
          <p:cNvSpPr txBox="1"/>
          <p:nvPr/>
        </p:nvSpPr>
        <p:spPr>
          <a:xfrm>
            <a:off x="1189419" y="24755176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実際の創作支援の形式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pic>
        <p:nvPicPr>
          <p:cNvPr id="17" name="Content Placeholder 6">
            <a:extLst>
              <a:ext uri="{FF2B5EF4-FFF2-40B4-BE49-F238E27FC236}">
                <a16:creationId xmlns:a16="http://schemas.microsoft.com/office/drawing/2014/main" id="{B79EF9EF-DDBB-5E59-1E56-4B0D29471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5" y="9977898"/>
            <a:ext cx="13596992" cy="9588731"/>
          </a:xfrm>
          <a:prstGeom prst="rect">
            <a:avLst/>
          </a:prstGeom>
        </p:spPr>
      </p:pic>
      <p:pic>
        <p:nvPicPr>
          <p:cNvPr id="31" name="図 30" descr="テキスト, 手紙&#10;&#10;自動的に生成された説明">
            <a:extLst>
              <a:ext uri="{FF2B5EF4-FFF2-40B4-BE49-F238E27FC236}">
                <a16:creationId xmlns:a16="http://schemas.microsoft.com/office/drawing/2014/main" id="{0104F16F-0C34-03BC-D3AC-40CFF55AE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0054" y="37078396"/>
            <a:ext cx="4633508" cy="183052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57D0DD2-002B-7A94-0C5E-6194606E2AAD}"/>
              </a:ext>
            </a:extLst>
          </p:cNvPr>
          <p:cNvSpPr txBox="1"/>
          <p:nvPr/>
        </p:nvSpPr>
        <p:spPr>
          <a:xfrm>
            <a:off x="15690928" y="33631947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sng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ユーザーフィードバック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54" name="テキスト ボックス 4">
            <a:extLst>
              <a:ext uri="{FF2B5EF4-FFF2-40B4-BE49-F238E27FC236}">
                <a16:creationId xmlns:a16="http://schemas.microsoft.com/office/drawing/2014/main" id="{C67F8BDC-D054-B1EE-A770-11090EF83A73}"/>
              </a:ext>
            </a:extLst>
          </p:cNvPr>
          <p:cNvSpPr txBox="1"/>
          <p:nvPr/>
        </p:nvSpPr>
        <p:spPr>
          <a:xfrm>
            <a:off x="15518003" y="35788022"/>
            <a:ext cx="873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WEB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アプリで期待以上</a:t>
            </a:r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/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足りない性能はなにか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A5DF276-F3FD-F865-B2A9-F58DEFDA6DF7}"/>
              </a:ext>
            </a:extLst>
          </p:cNvPr>
          <p:cNvSpPr txBox="1"/>
          <p:nvPr/>
        </p:nvSpPr>
        <p:spPr>
          <a:xfrm>
            <a:off x="16121666" y="34623729"/>
            <a:ext cx="13540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対象：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TEZUKA2023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に参加した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</a:t>
            </a:r>
            <a:r>
              <a:rPr kumimoji="1" lang="ja-JP" altLang="en-US" sz="4000" b="1">
                <a:latin typeface="Hiragino Sans W3" panose="020B0400000000000000" pitchFamily="34" charset="-128"/>
                <a:ea typeface="Hiragino Sans W3" panose="020B0400000000000000" pitchFamily="34" charset="-128"/>
              </a:rPr>
              <a:t>名のプロクリエイター</a:t>
            </a:r>
            <a:endParaRPr lang="en-US" altLang="ja-JP" sz="4000" b="1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65" name="テキスト ボックス 4">
            <a:extLst>
              <a:ext uri="{FF2B5EF4-FFF2-40B4-BE49-F238E27FC236}">
                <a16:creationId xmlns:a16="http://schemas.microsoft.com/office/drawing/2014/main" id="{F3FD73F6-B62E-1FE5-E65D-56B3DB40723D}"/>
              </a:ext>
            </a:extLst>
          </p:cNvPr>
          <p:cNvSpPr txBox="1"/>
          <p:nvPr/>
        </p:nvSpPr>
        <p:spPr>
          <a:xfrm>
            <a:off x="23993895" y="35811170"/>
            <a:ext cx="585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：ひとりでは生まれないような</a:t>
            </a:r>
            <a:endParaRPr kumimoji="1" lang="en-US" altLang="ja-JP" sz="2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2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　　キャラクターを創作できたか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BE6447CB-280D-3339-AE95-26E176BAB28E}"/>
              </a:ext>
            </a:extLst>
          </p:cNvPr>
          <p:cNvCxnSpPr>
            <a:cxnSpLocks/>
          </p:cNvCxnSpPr>
          <p:nvPr/>
        </p:nvCxnSpPr>
        <p:spPr>
          <a:xfrm>
            <a:off x="23904994" y="35549624"/>
            <a:ext cx="0" cy="425724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06CCC44-33A3-C836-EA71-90661D7E0383}"/>
              </a:ext>
            </a:extLst>
          </p:cNvPr>
          <p:cNvSpPr txBox="1"/>
          <p:nvPr/>
        </p:nvSpPr>
        <p:spPr>
          <a:xfrm>
            <a:off x="16226678" y="39902532"/>
            <a:ext cx="123193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：生成結果の品質は期待以上、</a:t>
            </a:r>
            <a:r>
              <a:rPr kumimoji="1" lang="ja-JP" altLang="en-US" sz="40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は改善が必要</a:t>
            </a:r>
            <a:endParaRPr kumimoji="1" lang="en-US" altLang="ja-JP" sz="40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2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：</a:t>
            </a:r>
            <a:r>
              <a:rPr kumimoji="1" lang="ja-JP" altLang="en-US" sz="40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を得られた場合があった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E9DF3BA9-19D2-0710-7AEA-667DD3C76EB8}"/>
              </a:ext>
            </a:extLst>
          </p:cNvPr>
          <p:cNvGrpSpPr/>
          <p:nvPr/>
        </p:nvGrpSpPr>
        <p:grpSpPr>
          <a:xfrm>
            <a:off x="15954283" y="36221783"/>
            <a:ext cx="7603332" cy="3356778"/>
            <a:chOff x="15664863" y="33998527"/>
            <a:chExt cx="8340516" cy="3851356"/>
          </a:xfrm>
        </p:grpSpPr>
        <p:pic>
          <p:nvPicPr>
            <p:cNvPr id="72" name="図 71" descr="テーブル&#10;&#10;自動的に生成された説明">
              <a:extLst>
                <a:ext uri="{FF2B5EF4-FFF2-40B4-BE49-F238E27FC236}">
                  <a16:creationId xmlns:a16="http://schemas.microsoft.com/office/drawing/2014/main" id="{5F4829B1-1A6C-ADE3-14BB-18A51FCF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64863" y="33998527"/>
              <a:ext cx="8340516" cy="3851356"/>
            </a:xfrm>
            <a:prstGeom prst="rect">
              <a:avLst/>
            </a:prstGeom>
          </p:spPr>
        </p:pic>
        <p:sp>
          <p:nvSpPr>
            <p:cNvPr id="73" name="フローチャート: 処理 9">
              <a:extLst>
                <a:ext uri="{FF2B5EF4-FFF2-40B4-BE49-F238E27FC236}">
                  <a16:creationId xmlns:a16="http://schemas.microsoft.com/office/drawing/2014/main" id="{76A52786-A908-C768-C877-EF0BD663E06E}"/>
                </a:ext>
              </a:extLst>
            </p:cNvPr>
            <p:cNvSpPr/>
            <p:nvPr/>
          </p:nvSpPr>
          <p:spPr>
            <a:xfrm>
              <a:off x="15877931" y="35340927"/>
              <a:ext cx="7215457" cy="793391"/>
            </a:xfrm>
            <a:prstGeom prst="flowChartProcess">
              <a:avLst/>
            </a:prstGeom>
            <a:solidFill>
              <a:srgbClr val="0070C0">
                <a:alpha val="34020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solidFill>
                  <a:srgbClr val="0070C0"/>
                </a:solidFill>
              </a:endParaRPr>
            </a:p>
          </p:txBody>
        </p:sp>
      </p:grpSp>
      <p:sp>
        <p:nvSpPr>
          <p:cNvPr id="74" name="フローチャート: 処理 6">
            <a:extLst>
              <a:ext uri="{FF2B5EF4-FFF2-40B4-BE49-F238E27FC236}">
                <a16:creationId xmlns:a16="http://schemas.microsoft.com/office/drawing/2014/main" id="{7E3C5861-E22D-022B-8C43-656AA237F8F3}"/>
              </a:ext>
            </a:extLst>
          </p:cNvPr>
          <p:cNvSpPr/>
          <p:nvPr/>
        </p:nvSpPr>
        <p:spPr>
          <a:xfrm>
            <a:off x="24977219" y="37780791"/>
            <a:ext cx="3500905" cy="435401"/>
          </a:xfrm>
          <a:prstGeom prst="flowChartProcess">
            <a:avLst/>
          </a:prstGeom>
          <a:solidFill>
            <a:srgbClr val="FF0000">
              <a:alpha val="3402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8241B3D2-9FDB-197F-7EDF-9F64AB91FFD5}"/>
              </a:ext>
            </a:extLst>
          </p:cNvPr>
          <p:cNvCxnSpPr>
            <a:cxnSpLocks/>
          </p:cNvCxnSpPr>
          <p:nvPr/>
        </p:nvCxnSpPr>
        <p:spPr>
          <a:xfrm flipH="1">
            <a:off x="15421955" y="39734899"/>
            <a:ext cx="14240597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1493616-3236-9B30-792D-48D18C9B5C71}"/>
              </a:ext>
            </a:extLst>
          </p:cNvPr>
          <p:cNvCxnSpPr>
            <a:cxnSpLocks/>
          </p:cNvCxnSpPr>
          <p:nvPr/>
        </p:nvCxnSpPr>
        <p:spPr>
          <a:xfrm flipH="1">
            <a:off x="15518003" y="35477617"/>
            <a:ext cx="14240597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4">
            <a:extLst>
              <a:ext uri="{FF2B5EF4-FFF2-40B4-BE49-F238E27FC236}">
                <a16:creationId xmlns:a16="http://schemas.microsoft.com/office/drawing/2014/main" id="{6149B9C3-610D-AF0E-03D4-73C8375E1C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8" t="549" r="444" b="503"/>
          <a:stretch/>
        </p:blipFill>
        <p:spPr>
          <a:xfrm>
            <a:off x="1046532" y="26157973"/>
            <a:ext cx="13337841" cy="7419906"/>
          </a:xfrm>
          <a:prstGeom prst="rect">
            <a:avLst/>
          </a:prstGeom>
          <a:ln>
            <a:noFill/>
          </a:ln>
        </p:spPr>
      </p:pic>
      <p:sp>
        <p:nvSpPr>
          <p:cNvPr id="78" name="テキスト ボックス 6">
            <a:extLst>
              <a:ext uri="{FF2B5EF4-FFF2-40B4-BE49-F238E27FC236}">
                <a16:creationId xmlns:a16="http://schemas.microsoft.com/office/drawing/2014/main" id="{A8969DB2-370F-3A52-6140-0D582458AB6D}"/>
              </a:ext>
            </a:extLst>
          </p:cNvPr>
          <p:cNvSpPr txBox="1"/>
          <p:nvPr/>
        </p:nvSpPr>
        <p:spPr>
          <a:xfrm>
            <a:off x="4061471" y="19593226"/>
            <a:ext cx="7269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©TEZUKA2023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プロジェクト</a:t>
            </a:r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/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手塚プロダクション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D84DF5B-C691-0792-115E-DB1F2C9BC88F}"/>
              </a:ext>
            </a:extLst>
          </p:cNvPr>
          <p:cNvSpPr txBox="1"/>
          <p:nvPr/>
        </p:nvSpPr>
        <p:spPr>
          <a:xfrm>
            <a:off x="1144420" y="7788090"/>
            <a:ext cx="140346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漫画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「ブラック・ジャック」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の新しい物語の制作を通じて、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クリエイターと</a:t>
            </a:r>
            <a:r>
              <a:rPr kumimoji="1" lang="en-US" altLang="ja-JP" sz="40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AI</a:t>
            </a:r>
            <a:r>
              <a:rPr kumimoji="1" lang="ja-JP" altLang="en-US" sz="40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システムの対話を通じた創作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の可能性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について実証実験を行った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0FD2F6CC-F451-B787-0E80-092449B02E29}"/>
              </a:ext>
            </a:extLst>
          </p:cNvPr>
          <p:cNvSpPr txBox="1"/>
          <p:nvPr/>
        </p:nvSpPr>
        <p:spPr>
          <a:xfrm>
            <a:off x="857071" y="20438602"/>
            <a:ext cx="136787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5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画像生成技術</a:t>
            </a:r>
            <a:r>
              <a:rPr kumimoji="1" lang="ja-JP" altLang="en-US" sz="5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を用いて</a:t>
            </a:r>
            <a:r>
              <a:rPr kumimoji="1" lang="en-US" altLang="ja-JP" sz="5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TEZUKA2023 </a:t>
            </a:r>
            <a:r>
              <a:rPr kumimoji="1" lang="ja-JP" altLang="en-US" sz="5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での</a:t>
            </a:r>
            <a:endParaRPr kumimoji="1" lang="en-US" altLang="ja-JP" sz="5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algn="ctr"/>
            <a:r>
              <a:rPr kumimoji="1" lang="ja-JP" altLang="en-US" sz="5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キャラクター創作支援</a:t>
            </a:r>
            <a:r>
              <a:rPr kumimoji="1" lang="ja-JP" altLang="en-US" sz="5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を行う</a:t>
            </a:r>
            <a:endParaRPr kumimoji="1" lang="en-US" altLang="ja-JP" sz="5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71E2003-D887-A345-F0E3-D44F379A7459}"/>
              </a:ext>
            </a:extLst>
          </p:cNvPr>
          <p:cNvSpPr txBox="1"/>
          <p:nvPr/>
        </p:nvSpPr>
        <p:spPr>
          <a:xfrm>
            <a:off x="785589" y="34578338"/>
            <a:ext cx="130728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生成結果をもとにクリエイターがキャラクターを創作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en-US" altLang="ja-JP" sz="40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↑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義体化した若い女性という設定のキャラクター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5C5BBE2-0253-79AF-A5A0-586F6EC95BB2}"/>
              </a:ext>
            </a:extLst>
          </p:cNvPr>
          <p:cNvSpPr txBox="1"/>
          <p:nvPr/>
        </p:nvSpPr>
        <p:spPr>
          <a:xfrm>
            <a:off x="15601000" y="6790753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漫画顔画像生成モデル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18961A7B-19BB-114B-B301-5682E0E7BF9F}"/>
              </a:ext>
            </a:extLst>
          </p:cNvPr>
          <p:cNvSpPr txBox="1"/>
          <p:nvPr/>
        </p:nvSpPr>
        <p:spPr>
          <a:xfrm>
            <a:off x="16057802" y="7756360"/>
            <a:ext cx="13604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ea typeface="Hiragino Sans W3" panose="020B0400000000000000" pitchFamily="34" charset="-128"/>
              </a:rPr>
              <a:t>Stable Diffusion </a:t>
            </a:r>
            <a:r>
              <a:rPr kumimoji="1" lang="en-US" altLang="ja-JP" sz="4000" dirty="0">
                <a:ea typeface="Hiragino Sans W3" panose="020B0400000000000000" pitchFamily="34" charset="-128"/>
              </a:rPr>
              <a:t>[4] </a:t>
            </a: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r>
              <a:rPr kumimoji="1" lang="en-US" altLang="ja-JP" sz="4000" b="1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lang="en-US" altLang="ja-JP" sz="4000" b="1" dirty="0" err="1"/>
              <a:t>Tezuka</a:t>
            </a:r>
            <a:r>
              <a:rPr lang="en-US" altLang="ja-JP" sz="4000" b="1" dirty="0"/>
              <a:t> Face Dataset  </a:t>
            </a:r>
            <a:r>
              <a:rPr lang="en-US" altLang="ja-JP" sz="4000" dirty="0"/>
              <a:t>[5] </a:t>
            </a:r>
            <a:r>
              <a:rPr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で追加学習</a:t>
            </a:r>
            <a:endParaRPr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86" name="図 85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60D82199-C266-F375-2E6C-C67AEC94276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3092"/>
          <a:stretch/>
        </p:blipFill>
        <p:spPr>
          <a:xfrm>
            <a:off x="16080019" y="9375859"/>
            <a:ext cx="6677143" cy="2750058"/>
          </a:xfrm>
          <a:prstGeom prst="rect">
            <a:avLst/>
          </a:prstGeom>
        </p:spPr>
      </p:pic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C2AC0CC-B8FE-00C9-97B5-A7847614C8BD}"/>
              </a:ext>
            </a:extLst>
          </p:cNvPr>
          <p:cNvSpPr txBox="1"/>
          <p:nvPr/>
        </p:nvSpPr>
        <p:spPr>
          <a:xfrm>
            <a:off x="17777506" y="12161596"/>
            <a:ext cx="318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©</a:t>
            </a:r>
            <a:r>
              <a:rPr kumimoji="1" lang="ja-JP" altLang="en-US" sz="2400"/>
              <a:t>手塚プロダクション</a:t>
            </a:r>
          </a:p>
        </p:txBody>
      </p:sp>
      <p:pic>
        <p:nvPicPr>
          <p:cNvPr id="88" name="図 87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5A0F8496-C6E9-9EFE-A75F-BBC96E886A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97149" y="9396753"/>
            <a:ext cx="5856182" cy="3089833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46153442-3684-214D-FE66-820C69D8E685}"/>
              </a:ext>
            </a:extLst>
          </p:cNvPr>
          <p:cNvSpPr txBox="1"/>
          <p:nvPr/>
        </p:nvSpPr>
        <p:spPr>
          <a:xfrm>
            <a:off x="16146996" y="8755414"/>
            <a:ext cx="6446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Tezuka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 Face Dataset (</a:t>
            </a:r>
            <a:r>
              <a:rPr kumimoji="1" lang="en-US" altLang="ja-JP" sz="3600" dirty="0"/>
              <a:t>20,987</a:t>
            </a:r>
            <a:r>
              <a:rPr kumimoji="1" lang="ja-JP" altLang="en-US" sz="3600"/>
              <a:t>枚</a:t>
            </a:r>
            <a:r>
              <a:rPr kumimoji="1" lang="en-US" altLang="ja-JP" sz="3600" dirty="0"/>
              <a:t>)</a:t>
            </a:r>
            <a:endParaRPr kumimoji="1" lang="ja-JP" altLang="en-US" sz="360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A9D224ED-5541-CC1E-B8B4-47350C03BE90}"/>
              </a:ext>
            </a:extLst>
          </p:cNvPr>
          <p:cNvSpPr txBox="1"/>
          <p:nvPr/>
        </p:nvSpPr>
        <p:spPr>
          <a:xfrm>
            <a:off x="23493751" y="8750422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  <a:cs typeface="+mn-cs"/>
              </a:rPr>
              <a:t>生成した漫画顔画像の例</a:t>
            </a:r>
            <a:endParaRPr kumimoji="1" lang="ja-JP" altLang="en-US" sz="160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0370840-E0F3-4111-0D44-AE40AC5CB35E}"/>
              </a:ext>
            </a:extLst>
          </p:cNvPr>
          <p:cNvSpPr txBox="1"/>
          <p:nvPr/>
        </p:nvSpPr>
        <p:spPr>
          <a:xfrm>
            <a:off x="15600999" y="12757506"/>
            <a:ext cx="112646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画像生成ユーザーインターフェース</a:t>
            </a:r>
            <a:endParaRPr kumimoji="1" lang="en-US" altLang="ja-JP" sz="5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pic>
        <p:nvPicPr>
          <p:cNvPr id="92" name="Picture 4">
            <a:extLst>
              <a:ext uri="{FF2B5EF4-FFF2-40B4-BE49-F238E27FC236}">
                <a16:creationId xmlns:a16="http://schemas.microsoft.com/office/drawing/2014/main" id="{36ED16EF-54F6-8A58-5F9B-C7D88AC98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16174" y="16466885"/>
            <a:ext cx="13764818" cy="69164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2A5C688D-8FC5-369D-739C-48CE5BAD1855}"/>
              </a:ext>
            </a:extLst>
          </p:cNvPr>
          <p:cNvSpPr txBox="1"/>
          <p:nvPr/>
        </p:nvSpPr>
        <p:spPr>
          <a:xfrm>
            <a:off x="16057802" y="13780538"/>
            <a:ext cx="64043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タグ選択による画像生成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kumimoji="1" lang="ja-JP" altLang="en-US" sz="4000">
                <a:latin typeface="Hiragino Sans W3" panose="020B0400000000000000" pitchFamily="34" charset="-128"/>
                <a:ea typeface="Hiragino Sans W3" panose="020B0400000000000000" pitchFamily="34" charset="-128"/>
              </a:rPr>
              <a:t>制御性と意外性の両立</a:t>
            </a:r>
            <a:endParaRPr kumimoji="1" lang="en-US" altLang="ja-JP" sz="40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737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FEB0DD8-8C5D-9C85-5A58-8F9F7BE8005B}"/>
              </a:ext>
            </a:extLst>
          </p:cNvPr>
          <p:cNvSpPr/>
          <p:nvPr/>
        </p:nvSpPr>
        <p:spPr>
          <a:xfrm>
            <a:off x="571069" y="16812181"/>
            <a:ext cx="29215923" cy="11725083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2" name="Picture 4">
            <a:extLst>
              <a:ext uri="{FF2B5EF4-FFF2-40B4-BE49-F238E27FC236}">
                <a16:creationId xmlns:a16="http://schemas.microsoft.com/office/drawing/2014/main" id="{36ED16EF-54F6-8A58-5F9B-C7D88AC9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378838" y="20787455"/>
            <a:ext cx="14024591" cy="7585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0B374DE-0E4C-A7AC-BC62-E60E228D6602}"/>
              </a:ext>
            </a:extLst>
          </p:cNvPr>
          <p:cNvSpPr/>
          <p:nvPr/>
        </p:nvSpPr>
        <p:spPr>
          <a:xfrm>
            <a:off x="612659" y="39910505"/>
            <a:ext cx="29145939" cy="194085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5C5BBE2-0253-79AF-A5A0-586F6EC95BB2}"/>
              </a:ext>
            </a:extLst>
          </p:cNvPr>
          <p:cNvSpPr txBox="1"/>
          <p:nvPr/>
        </p:nvSpPr>
        <p:spPr>
          <a:xfrm>
            <a:off x="995177" y="17010234"/>
            <a:ext cx="78790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漫画顔画像生成モデル</a:t>
            </a:r>
            <a:endParaRPr kumimoji="1" lang="en-US" altLang="ja-JP" sz="6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18961A7B-19BB-114B-B301-5682E0E7BF9F}"/>
              </a:ext>
            </a:extLst>
          </p:cNvPr>
          <p:cNvSpPr txBox="1"/>
          <p:nvPr/>
        </p:nvSpPr>
        <p:spPr>
          <a:xfrm>
            <a:off x="1416012" y="18629380"/>
            <a:ext cx="14492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dirty="0">
                <a:ea typeface="Hiragino Sans W3" panose="020B0400000000000000" pitchFamily="34" charset="-128"/>
              </a:rPr>
              <a:t>Stable Diffusion</a:t>
            </a:r>
            <a:r>
              <a:rPr kumimoji="1" lang="en-US" altLang="ja-JP" sz="4400" dirty="0">
                <a:ea typeface="Hiragino Sans W3" panose="020B0400000000000000" pitchFamily="34" charset="-128"/>
              </a:rPr>
              <a:t>[1]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</a:t>
            </a:r>
            <a:r>
              <a:rPr kumimoji="1" lang="en-US" altLang="ja-JP" sz="4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lang="en-US" altLang="ja-JP" sz="4400" b="1" dirty="0" err="1"/>
              <a:t>Tezuka</a:t>
            </a:r>
            <a:r>
              <a:rPr lang="en-US" altLang="ja-JP" sz="4400" b="1" dirty="0"/>
              <a:t> Face Dataset </a:t>
            </a:r>
            <a:r>
              <a:rPr lang="en-US" altLang="ja-JP" sz="4400" dirty="0"/>
              <a:t>[2]</a:t>
            </a:r>
            <a:r>
              <a:rPr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で追加学習</a:t>
            </a:r>
            <a:endParaRPr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pic>
        <p:nvPicPr>
          <p:cNvPr id="86" name="図 85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60D82199-C266-F375-2E6C-C67AEC9427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092"/>
          <a:stretch/>
        </p:blipFill>
        <p:spPr>
          <a:xfrm>
            <a:off x="16115469" y="17503240"/>
            <a:ext cx="6677143" cy="2750058"/>
          </a:xfrm>
          <a:prstGeom prst="rect">
            <a:avLst/>
          </a:prstGeom>
        </p:spPr>
      </p:pic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C2AC0CC-B8FE-00C9-97B5-A7847614C8BD}"/>
              </a:ext>
            </a:extLst>
          </p:cNvPr>
          <p:cNvSpPr txBox="1"/>
          <p:nvPr/>
        </p:nvSpPr>
        <p:spPr>
          <a:xfrm>
            <a:off x="17812956" y="20223663"/>
            <a:ext cx="3185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©</a:t>
            </a:r>
            <a:r>
              <a:rPr kumimoji="1" lang="ja-JP" altLang="en-US" sz="2400"/>
              <a:t>手塚プロダクション</a:t>
            </a:r>
          </a:p>
        </p:txBody>
      </p:sp>
      <p:pic>
        <p:nvPicPr>
          <p:cNvPr id="88" name="図 87" descr="テキスト, 本 が含まれている画像&#10;&#10;自動的に生成された説明">
            <a:extLst>
              <a:ext uri="{FF2B5EF4-FFF2-40B4-BE49-F238E27FC236}">
                <a16:creationId xmlns:a16="http://schemas.microsoft.com/office/drawing/2014/main" id="{5A0F8496-C6E9-9EFE-A75F-BBC96E886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2599" y="17524134"/>
            <a:ext cx="5856182" cy="3089833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46153442-3684-214D-FE66-820C69D8E685}"/>
              </a:ext>
            </a:extLst>
          </p:cNvPr>
          <p:cNvSpPr txBox="1"/>
          <p:nvPr/>
        </p:nvSpPr>
        <p:spPr>
          <a:xfrm>
            <a:off x="16182446" y="16882795"/>
            <a:ext cx="6446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Tezuka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t> Face Dataset (</a:t>
            </a:r>
            <a:r>
              <a:rPr kumimoji="1" lang="en-US" altLang="ja-JP" sz="3600" dirty="0"/>
              <a:t>20,987</a:t>
            </a:r>
            <a:r>
              <a:rPr kumimoji="1" lang="ja-JP" altLang="en-US" sz="3600"/>
              <a:t>枚</a:t>
            </a:r>
            <a:r>
              <a:rPr kumimoji="1" lang="en-US" altLang="ja-JP" sz="3600" dirty="0"/>
              <a:t>)</a:t>
            </a:r>
            <a:endParaRPr kumimoji="1" lang="ja-JP" altLang="en-US" sz="360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A9D224ED-5541-CC1E-B8B4-47350C03BE90}"/>
              </a:ext>
            </a:extLst>
          </p:cNvPr>
          <p:cNvSpPr txBox="1"/>
          <p:nvPr/>
        </p:nvSpPr>
        <p:spPr>
          <a:xfrm>
            <a:off x="23529201" y="16877803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  <a:cs typeface="+mn-cs"/>
              </a:rPr>
              <a:t>生成した漫画顔画像の例</a:t>
            </a:r>
            <a:endParaRPr kumimoji="1" lang="ja-JP" altLang="en-US" sz="160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0370840-E0F3-4111-0D44-AE40AC5CB35E}"/>
              </a:ext>
            </a:extLst>
          </p:cNvPr>
          <p:cNvSpPr txBox="1"/>
          <p:nvPr/>
        </p:nvSpPr>
        <p:spPr>
          <a:xfrm>
            <a:off x="995177" y="20622410"/>
            <a:ext cx="139849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画像生成ユーザーインターフェース</a:t>
            </a:r>
            <a:r>
              <a:rPr kumimoji="1" lang="en-US" altLang="ja-JP" sz="6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(UI)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2A5C688D-8FC5-369D-739C-48CE5BAD1855}"/>
              </a:ext>
            </a:extLst>
          </p:cNvPr>
          <p:cNvSpPr txBox="1"/>
          <p:nvPr/>
        </p:nvSpPr>
        <p:spPr>
          <a:xfrm>
            <a:off x="2426345" y="23026144"/>
            <a:ext cx="1146980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生成結果がクリエイターのアイデアに依存し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4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を持った生成結果が得づらい</a:t>
            </a:r>
            <a:endParaRPr kumimoji="1" lang="en-US" altLang="ja-JP" sz="44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017064F-FD2B-62B5-BB97-DFB22437D5EC}"/>
              </a:ext>
            </a:extLst>
          </p:cNvPr>
          <p:cNvSpPr/>
          <p:nvPr/>
        </p:nvSpPr>
        <p:spPr>
          <a:xfrm>
            <a:off x="14108395" y="30595010"/>
            <a:ext cx="15650205" cy="799012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 descr="アイコン&#10;&#10;自動的に生成された説明">
            <a:extLst>
              <a:ext uri="{FF2B5EF4-FFF2-40B4-BE49-F238E27FC236}">
                <a16:creationId xmlns:a16="http://schemas.microsoft.com/office/drawing/2014/main" id="{855168F0-BFF7-3BDF-21DF-0B99E4904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9948" y="41926150"/>
            <a:ext cx="1339319" cy="72323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8110D9-9656-FDD8-5063-5FC108DAE707}"/>
              </a:ext>
            </a:extLst>
          </p:cNvPr>
          <p:cNvSpPr/>
          <p:nvPr/>
        </p:nvSpPr>
        <p:spPr>
          <a:xfrm>
            <a:off x="542678" y="6700274"/>
            <a:ext cx="29244313" cy="826026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C3FBF-A45F-CA9D-37BE-E7589873501A}"/>
              </a:ext>
            </a:extLst>
          </p:cNvPr>
          <p:cNvSpPr txBox="1"/>
          <p:nvPr/>
        </p:nvSpPr>
        <p:spPr>
          <a:xfrm>
            <a:off x="4324389" y="472360"/>
            <a:ext cx="2162643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漫画キャラクター創作支援に向けた </a:t>
            </a:r>
            <a:endParaRPr lang="en-US" altLang="ja-JP" sz="88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lang="ja-JP" altLang="en-US" sz="8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画像生成ユーザーインターフェースの提案</a:t>
            </a:r>
            <a:endParaRPr kumimoji="1" lang="ja-JP" altLang="en-US" sz="88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AB82C-73BE-123D-4465-3FE3FF88F551}"/>
              </a:ext>
            </a:extLst>
          </p:cNvPr>
          <p:cNvSpPr txBox="1"/>
          <p:nvPr/>
        </p:nvSpPr>
        <p:spPr>
          <a:xfrm>
            <a:off x="7007013" y="3500482"/>
            <a:ext cx="162611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北川峻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畠山太郎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蛭田興明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橋本敦史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2 1 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　栗原聡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</a:p>
          <a:p>
            <a:pPr algn="ctr"/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慶應義塾大学　</a:t>
            </a:r>
            <a:r>
              <a:rPr lang="en-US" altLang="ja-JP" sz="4800" baseline="300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 2</a:t>
            </a:r>
            <a:r>
              <a:rPr lang="ja-JP" altLang="en-US" sz="48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オムロンサイニックエックス株式会社　</a:t>
            </a:r>
            <a:endParaRPr kumimoji="1" lang="ja-JP" altLang="en-US" sz="48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B791631-FCC8-37A0-BE3C-AD316D0FC10D}"/>
              </a:ext>
            </a:extLst>
          </p:cNvPr>
          <p:cNvCxnSpPr>
            <a:cxnSpLocks/>
          </p:cNvCxnSpPr>
          <p:nvPr/>
        </p:nvCxnSpPr>
        <p:spPr>
          <a:xfrm>
            <a:off x="542678" y="256345"/>
            <a:ext cx="288487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539609A-963B-217D-434F-ED25A9B63163}"/>
              </a:ext>
            </a:extLst>
          </p:cNvPr>
          <p:cNvCxnSpPr>
            <a:cxnSpLocks/>
          </p:cNvCxnSpPr>
          <p:nvPr/>
        </p:nvCxnSpPr>
        <p:spPr>
          <a:xfrm>
            <a:off x="542678" y="3367095"/>
            <a:ext cx="2878599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431865-0166-A9A6-F351-CBC551EE7D95}"/>
              </a:ext>
            </a:extLst>
          </p:cNvPr>
          <p:cNvSpPr/>
          <p:nvPr/>
        </p:nvSpPr>
        <p:spPr>
          <a:xfrm>
            <a:off x="542678" y="5182184"/>
            <a:ext cx="29244315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研究背景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1DAF6FC-0B72-574C-7024-88640F6C0DB8}"/>
              </a:ext>
            </a:extLst>
          </p:cNvPr>
          <p:cNvSpPr/>
          <p:nvPr/>
        </p:nvSpPr>
        <p:spPr>
          <a:xfrm>
            <a:off x="14108395" y="29017208"/>
            <a:ext cx="15650205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ユーザーフィードバック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F9137B-1149-8003-0D5C-CACC5169A8F4}"/>
              </a:ext>
            </a:extLst>
          </p:cNvPr>
          <p:cNvSpPr txBox="1"/>
          <p:nvPr/>
        </p:nvSpPr>
        <p:spPr>
          <a:xfrm>
            <a:off x="542678" y="42024198"/>
            <a:ext cx="27793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本研究は、</a:t>
            </a:r>
            <a:r>
              <a:rPr lang="en-US" altLang="ja-JP" sz="28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NEDO </a:t>
            </a:r>
            <a:r>
              <a:rPr lang="ja-JP" altLang="en-US" sz="2800">
                <a:latin typeface="Hiragino Sans W3" panose="020B0400000000000000" pitchFamily="34" charset="-128"/>
                <a:ea typeface="Hiragino Sans W3" panose="020B0400000000000000" pitchFamily="34" charset="-128"/>
              </a:rPr>
              <a:t>人と共に進化する次世代人工知能に関する技術開発事業「インタラクティブなストーリー型コンテンツ創作支援基盤の開発」の助成を受けたものである。</a:t>
            </a:r>
            <a:endParaRPr kumimoji="1" lang="ja-JP" altLang="en-US" sz="280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AFFBF52-D12C-0A53-25C5-58733BDFBBDF}"/>
              </a:ext>
            </a:extLst>
          </p:cNvPr>
          <p:cNvSpPr/>
          <p:nvPr/>
        </p:nvSpPr>
        <p:spPr>
          <a:xfrm>
            <a:off x="571067" y="15294093"/>
            <a:ext cx="29215925" cy="1518089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ユーザーインターフェース開発</a:t>
            </a:r>
          </a:p>
        </p:txBody>
      </p:sp>
      <p:pic>
        <p:nvPicPr>
          <p:cNvPr id="17" name="Content Placeholder 6">
            <a:extLst>
              <a:ext uri="{FF2B5EF4-FFF2-40B4-BE49-F238E27FC236}">
                <a16:creationId xmlns:a16="http://schemas.microsoft.com/office/drawing/2014/main" id="{B79EF9EF-DDBB-5E59-1E56-4B0D294718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70369" y="6835358"/>
            <a:ext cx="10772344" cy="7596762"/>
          </a:xfrm>
          <a:prstGeom prst="rect">
            <a:avLst/>
          </a:prstGeom>
        </p:spPr>
      </p:pic>
      <p:sp>
        <p:nvSpPr>
          <p:cNvPr id="54" name="テキスト ボックス 4">
            <a:extLst>
              <a:ext uri="{FF2B5EF4-FFF2-40B4-BE49-F238E27FC236}">
                <a16:creationId xmlns:a16="http://schemas.microsoft.com/office/drawing/2014/main" id="{C67F8BDC-D054-B1EE-A770-11090EF83A73}"/>
              </a:ext>
            </a:extLst>
          </p:cNvPr>
          <p:cNvSpPr txBox="1"/>
          <p:nvPr/>
        </p:nvSpPr>
        <p:spPr>
          <a:xfrm>
            <a:off x="14647784" y="31843123"/>
            <a:ext cx="7944447" cy="581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UI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で期待以上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/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足りない性能はなにか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A5DF276-F3FD-F865-B2A9-F58DEFDA6DF7}"/>
              </a:ext>
            </a:extLst>
          </p:cNvPr>
          <p:cNvSpPr txBox="1"/>
          <p:nvPr/>
        </p:nvSpPr>
        <p:spPr>
          <a:xfrm>
            <a:off x="14397436" y="30676288"/>
            <a:ext cx="1488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対象：</a:t>
            </a:r>
            <a:r>
              <a:rPr kumimoji="1" lang="en-US" altLang="ja-JP" sz="4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TEZUKA2023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に参加した</a:t>
            </a:r>
            <a:r>
              <a:rPr kumimoji="1" lang="en-US" altLang="ja-JP" sz="4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3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名のプロクリエイター</a:t>
            </a:r>
            <a:endParaRPr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65" name="テキスト ボックス 4">
            <a:extLst>
              <a:ext uri="{FF2B5EF4-FFF2-40B4-BE49-F238E27FC236}">
                <a16:creationId xmlns:a16="http://schemas.microsoft.com/office/drawing/2014/main" id="{F3FD73F6-B62E-1FE5-E65D-56B3DB40723D}"/>
              </a:ext>
            </a:extLst>
          </p:cNvPr>
          <p:cNvSpPr txBox="1"/>
          <p:nvPr/>
        </p:nvSpPr>
        <p:spPr>
          <a:xfrm>
            <a:off x="23341827" y="31860608"/>
            <a:ext cx="6281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：ひとりでは生まれないような</a:t>
            </a:r>
            <a:endParaRPr kumimoji="1" lang="en-US" altLang="ja-JP" sz="32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    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キャラクターを創作できたか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06CCC44-33A3-C836-EA71-90661D7E0383}"/>
              </a:ext>
            </a:extLst>
          </p:cNvPr>
          <p:cNvSpPr txBox="1"/>
          <p:nvPr/>
        </p:nvSpPr>
        <p:spPr>
          <a:xfrm>
            <a:off x="14267347" y="36942552"/>
            <a:ext cx="152256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問</a:t>
            </a:r>
            <a:r>
              <a:rPr kumimoji="1" lang="en-US" altLang="ja-JP" sz="4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1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より：生成結果の品質は期待以上、</a:t>
            </a:r>
            <a:r>
              <a:rPr kumimoji="1" lang="ja-JP" altLang="en-US" sz="44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は改善が必要</a:t>
            </a:r>
            <a:endParaRPr kumimoji="1" lang="en-US" altLang="ja-JP" sz="44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pPr algn="ctr"/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問</a:t>
            </a:r>
            <a:r>
              <a:rPr kumimoji="1" lang="en-US" altLang="ja-JP" sz="4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2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より：</a:t>
            </a:r>
            <a:r>
              <a:rPr kumimoji="1" lang="ja-JP" altLang="en-US" sz="44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を持った生成結果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を得られた場合があった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E9DF3BA9-19D2-0710-7AEA-667DD3C76EB8}"/>
              </a:ext>
            </a:extLst>
          </p:cNvPr>
          <p:cNvGrpSpPr/>
          <p:nvPr/>
        </p:nvGrpSpPr>
        <p:grpSpPr>
          <a:xfrm>
            <a:off x="14419489" y="32400026"/>
            <a:ext cx="8401036" cy="4113379"/>
            <a:chOff x="15664863" y="33998527"/>
            <a:chExt cx="8340516" cy="3851356"/>
          </a:xfrm>
        </p:grpSpPr>
        <p:pic>
          <p:nvPicPr>
            <p:cNvPr id="72" name="図 71" descr="テーブル&#10;&#10;自動的に生成された説明">
              <a:extLst>
                <a:ext uri="{FF2B5EF4-FFF2-40B4-BE49-F238E27FC236}">
                  <a16:creationId xmlns:a16="http://schemas.microsoft.com/office/drawing/2014/main" id="{5F4829B1-1A6C-ADE3-14BB-18A51FCF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664863" y="33998527"/>
              <a:ext cx="8340516" cy="3851356"/>
            </a:xfrm>
            <a:prstGeom prst="rect">
              <a:avLst/>
            </a:prstGeom>
          </p:spPr>
        </p:pic>
        <p:sp>
          <p:nvSpPr>
            <p:cNvPr id="73" name="フローチャート: 処理 9">
              <a:extLst>
                <a:ext uri="{FF2B5EF4-FFF2-40B4-BE49-F238E27FC236}">
                  <a16:creationId xmlns:a16="http://schemas.microsoft.com/office/drawing/2014/main" id="{76A52786-A908-C768-C877-EF0BD663E06E}"/>
                </a:ext>
              </a:extLst>
            </p:cNvPr>
            <p:cNvSpPr/>
            <p:nvPr/>
          </p:nvSpPr>
          <p:spPr>
            <a:xfrm>
              <a:off x="15877931" y="35340927"/>
              <a:ext cx="7215457" cy="793391"/>
            </a:xfrm>
            <a:prstGeom prst="flowChartProcess">
              <a:avLst/>
            </a:prstGeom>
            <a:solidFill>
              <a:srgbClr val="0070C0">
                <a:alpha val="34020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solidFill>
                  <a:srgbClr val="0070C0"/>
                </a:solidFill>
              </a:endParaRPr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D7534B4B-9CD4-869F-A5C2-719A3FD2EC54}"/>
              </a:ext>
            </a:extLst>
          </p:cNvPr>
          <p:cNvGrpSpPr/>
          <p:nvPr/>
        </p:nvGrpSpPr>
        <p:grpSpPr>
          <a:xfrm>
            <a:off x="23856540" y="33186247"/>
            <a:ext cx="5203627" cy="2155877"/>
            <a:chOff x="24560054" y="34269883"/>
            <a:chExt cx="4633508" cy="1830522"/>
          </a:xfrm>
        </p:grpSpPr>
        <p:pic>
          <p:nvPicPr>
            <p:cNvPr id="31" name="図 30" descr="テキスト, 手紙&#10;&#10;自動的に生成された説明">
              <a:extLst>
                <a:ext uri="{FF2B5EF4-FFF2-40B4-BE49-F238E27FC236}">
                  <a16:creationId xmlns:a16="http://schemas.microsoft.com/office/drawing/2014/main" id="{0104F16F-0C34-03BC-D3AC-40CFF55AE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560054" y="34269883"/>
              <a:ext cx="4633508" cy="1830522"/>
            </a:xfrm>
            <a:prstGeom prst="rect">
              <a:avLst/>
            </a:prstGeom>
          </p:spPr>
        </p:pic>
        <p:sp>
          <p:nvSpPr>
            <p:cNvPr id="74" name="フローチャート: 処理 6">
              <a:extLst>
                <a:ext uri="{FF2B5EF4-FFF2-40B4-BE49-F238E27FC236}">
                  <a16:creationId xmlns:a16="http://schemas.microsoft.com/office/drawing/2014/main" id="{7E3C5861-E22D-022B-8C43-656AA237F8F3}"/>
                </a:ext>
              </a:extLst>
            </p:cNvPr>
            <p:cNvSpPr/>
            <p:nvPr/>
          </p:nvSpPr>
          <p:spPr>
            <a:xfrm>
              <a:off x="24977219" y="34972278"/>
              <a:ext cx="3500905" cy="435401"/>
            </a:xfrm>
            <a:prstGeom prst="flowChartProcess">
              <a:avLst/>
            </a:prstGeom>
            <a:solidFill>
              <a:srgbClr val="FF0000">
                <a:alpha val="34020"/>
              </a:srgb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8241B3D2-9FDB-197F-7EDF-9F64AB91FFD5}"/>
              </a:ext>
            </a:extLst>
          </p:cNvPr>
          <p:cNvCxnSpPr>
            <a:cxnSpLocks/>
          </p:cNvCxnSpPr>
          <p:nvPr/>
        </p:nvCxnSpPr>
        <p:spPr>
          <a:xfrm flipH="1">
            <a:off x="14151720" y="36632473"/>
            <a:ext cx="15510832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1493616-3236-9B30-792D-48D18C9B5C71}"/>
              </a:ext>
            </a:extLst>
          </p:cNvPr>
          <p:cNvCxnSpPr>
            <a:cxnSpLocks/>
          </p:cNvCxnSpPr>
          <p:nvPr/>
        </p:nvCxnSpPr>
        <p:spPr>
          <a:xfrm flipH="1">
            <a:off x="14108395" y="31612456"/>
            <a:ext cx="15554156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6">
            <a:extLst>
              <a:ext uri="{FF2B5EF4-FFF2-40B4-BE49-F238E27FC236}">
                <a16:creationId xmlns:a16="http://schemas.microsoft.com/office/drawing/2014/main" id="{A8969DB2-370F-3A52-6140-0D582458AB6D}"/>
              </a:ext>
            </a:extLst>
          </p:cNvPr>
          <p:cNvSpPr txBox="1"/>
          <p:nvPr/>
        </p:nvSpPr>
        <p:spPr>
          <a:xfrm>
            <a:off x="20221571" y="14465498"/>
            <a:ext cx="7269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©TEZUKA2023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プロジェクト</a:t>
            </a:r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/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手塚プロダクション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D84DF5B-C691-0792-115E-DB1F2C9BC88F}"/>
              </a:ext>
            </a:extLst>
          </p:cNvPr>
          <p:cNvSpPr txBox="1"/>
          <p:nvPr/>
        </p:nvSpPr>
        <p:spPr>
          <a:xfrm>
            <a:off x="1416012" y="8013044"/>
            <a:ext cx="165729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漫画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「ブラック・ジャック」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の新しい物語の制作を通じて、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クリエイターと</a:t>
            </a:r>
            <a:r>
              <a:rPr kumimoji="1" lang="en-US" altLang="ja-JP" sz="44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AI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システムの対話を通じた創作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の可能性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について実証実験を行った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0FD2F6CC-F451-B787-0E80-092449B02E29}"/>
              </a:ext>
            </a:extLst>
          </p:cNvPr>
          <p:cNvSpPr txBox="1"/>
          <p:nvPr/>
        </p:nvSpPr>
        <p:spPr>
          <a:xfrm>
            <a:off x="1419217" y="11672692"/>
            <a:ext cx="119282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latin typeface="Hiragino Sans W3" panose="020B0400000000000000" pitchFamily="34" charset="-128"/>
                <a:ea typeface="Hiragino Sans W3" panose="020B0400000000000000" pitchFamily="34" charset="-128"/>
              </a:rPr>
              <a:t>TEZUKA2023</a:t>
            </a:r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における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キャラクター創作支援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AF58F8-45EA-6025-1AA1-CAB71B7A0679}"/>
              </a:ext>
            </a:extLst>
          </p:cNvPr>
          <p:cNvSpPr/>
          <p:nvPr/>
        </p:nvSpPr>
        <p:spPr>
          <a:xfrm>
            <a:off x="612656" y="38967107"/>
            <a:ext cx="29145943" cy="884796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rPr>
              <a:t>参考文献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879E9B-6665-B4C8-E5F9-FA9254DC3632}"/>
              </a:ext>
            </a:extLst>
          </p:cNvPr>
          <p:cNvSpPr txBox="1"/>
          <p:nvPr/>
        </p:nvSpPr>
        <p:spPr>
          <a:xfrm>
            <a:off x="848986" y="39910505"/>
            <a:ext cx="291459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dirty="0"/>
              <a:t>[1] </a:t>
            </a:r>
            <a:r>
              <a:rPr lang="en-US" altLang="ja-JP" sz="3000" dirty="0"/>
              <a:t>Robin </a:t>
            </a:r>
            <a:r>
              <a:rPr lang="en-US" altLang="ja-JP" sz="3000" dirty="0" err="1"/>
              <a:t>Rombach</a:t>
            </a:r>
            <a:r>
              <a:rPr lang="en-US" altLang="ja-JP" sz="3000" dirty="0"/>
              <a:t>, Andreas </a:t>
            </a:r>
            <a:r>
              <a:rPr lang="en-US" altLang="ja-JP" sz="3000" dirty="0" err="1"/>
              <a:t>Blattmann</a:t>
            </a:r>
            <a:r>
              <a:rPr lang="en-US" altLang="ja-JP" sz="3000" dirty="0"/>
              <a:t>, Dominik Lorenz, Patrick </a:t>
            </a:r>
            <a:r>
              <a:rPr lang="en-US" altLang="ja-JP" sz="3000" dirty="0" err="1"/>
              <a:t>Esser</a:t>
            </a:r>
            <a:r>
              <a:rPr lang="en-US" altLang="ja-JP" sz="3000" dirty="0"/>
              <a:t>, and Björn </a:t>
            </a:r>
            <a:r>
              <a:rPr lang="en-US" altLang="ja-JP" sz="3000" dirty="0" err="1"/>
              <a:t>Ommer</a:t>
            </a:r>
            <a:r>
              <a:rPr lang="en-US" altLang="ja-JP" sz="3000" dirty="0"/>
              <a:t>. High-Resolution Image Synthesis with Latent Diffusion Models. In CVPR, 2022</a:t>
            </a:r>
          </a:p>
          <a:p>
            <a:r>
              <a:rPr kumimoji="1" lang="en-US" altLang="ja-JP" sz="3000" dirty="0"/>
              <a:t>[2]</a:t>
            </a:r>
            <a:r>
              <a:rPr lang="ja-JP" altLang="en-US" sz="3000"/>
              <a:t>畠山太郎</a:t>
            </a:r>
            <a:r>
              <a:rPr lang="en-US" altLang="ja-JP" sz="3000" dirty="0"/>
              <a:t>, </a:t>
            </a:r>
            <a:r>
              <a:rPr lang="ja-JP" altLang="en-US" sz="3000"/>
              <a:t>齋藤隆丞</a:t>
            </a:r>
            <a:r>
              <a:rPr lang="en-US" altLang="ja-JP" sz="3000" dirty="0"/>
              <a:t>, </a:t>
            </a:r>
            <a:r>
              <a:rPr lang="ja-JP" altLang="en-US" sz="3000"/>
              <a:t>蛭田興明</a:t>
            </a:r>
            <a:r>
              <a:rPr lang="en-US" altLang="ja-JP" sz="3000" dirty="0"/>
              <a:t>, </a:t>
            </a:r>
            <a:r>
              <a:rPr lang="ja-JP" altLang="en-US" sz="3000"/>
              <a:t>橋本敦史</a:t>
            </a:r>
            <a:r>
              <a:rPr lang="en-US" altLang="ja-JP" sz="3000" dirty="0"/>
              <a:t>, </a:t>
            </a:r>
            <a:r>
              <a:rPr lang="ja-JP" altLang="en-US" sz="3000"/>
              <a:t>栗原聡</a:t>
            </a:r>
            <a:r>
              <a:rPr lang="en-US" altLang="ja-JP" sz="3000" dirty="0"/>
              <a:t>, </a:t>
            </a:r>
            <a:r>
              <a:rPr lang="ja-JP" altLang="en-US" sz="3000"/>
              <a:t>条件付き敵対的生成ネットワークに対する</a:t>
            </a:r>
            <a:r>
              <a:rPr lang="en-US" altLang="ja-JP" sz="3000" dirty="0"/>
              <a:t>GAN Inversion</a:t>
            </a:r>
            <a:r>
              <a:rPr lang="ja-JP" altLang="en-US" sz="3000"/>
              <a:t>の適用による実写顔画像から漫画顔画像への変換手法の提案</a:t>
            </a:r>
            <a:r>
              <a:rPr lang="en-US" altLang="ja-JP" sz="3000" dirty="0"/>
              <a:t>, </a:t>
            </a:r>
            <a:r>
              <a:rPr lang="ja-JP" altLang="en-US" sz="3000"/>
              <a:t>人工知能学会全国大会論文集</a:t>
            </a:r>
            <a:r>
              <a:rPr lang="en-US" altLang="ja-JP" sz="3000" dirty="0"/>
              <a:t>, 2022</a:t>
            </a:r>
            <a:r>
              <a:rPr lang="ja-JP" altLang="en-US" sz="3000"/>
              <a:t>．</a:t>
            </a:r>
            <a:endParaRPr kumimoji="1" lang="en-US" altLang="ja-JP" sz="3000" dirty="0"/>
          </a:p>
          <a:p>
            <a:r>
              <a:rPr kumimoji="1" lang="en-US" altLang="ja-JP" sz="3000" dirty="0"/>
              <a:t>[3] https://github.com/AUTOMATIC1111/stable-diffusion-</a:t>
            </a:r>
            <a:r>
              <a:rPr kumimoji="1" lang="en-US" altLang="ja-JP" sz="3000" dirty="0" err="1"/>
              <a:t>webui</a:t>
            </a:r>
            <a:r>
              <a:rPr kumimoji="1" lang="en-US" altLang="ja-JP" sz="3000" dirty="0"/>
              <a:t>, [4] https://www.midjourney.com/home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8D19380-51F7-2C54-DF53-5551C6071041}"/>
              </a:ext>
            </a:extLst>
          </p:cNvPr>
          <p:cNvSpPr txBox="1"/>
          <p:nvPr/>
        </p:nvSpPr>
        <p:spPr>
          <a:xfrm>
            <a:off x="995178" y="6858563"/>
            <a:ext cx="5852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TEZUKA2023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BFC1884-4D2D-425C-4F4E-87B6180C397C}"/>
              </a:ext>
            </a:extLst>
          </p:cNvPr>
          <p:cNvSpPr txBox="1"/>
          <p:nvPr/>
        </p:nvSpPr>
        <p:spPr>
          <a:xfrm>
            <a:off x="995177" y="10435056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  <a:cs typeface="+mn-cs"/>
              </a:rPr>
              <a:t>本研究の目標</a:t>
            </a:r>
            <a:endParaRPr kumimoji="1" lang="en-US" altLang="ja-JP" sz="6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  <a:cs typeface="+mn-cs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8891168-0E15-5EC6-7075-0013B9A1E68B}"/>
              </a:ext>
            </a:extLst>
          </p:cNvPr>
          <p:cNvSpPr txBox="1"/>
          <p:nvPr/>
        </p:nvSpPr>
        <p:spPr>
          <a:xfrm>
            <a:off x="3953457" y="12772828"/>
            <a:ext cx="11880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クリエイターの創造性を刺激する</a:t>
            </a:r>
            <a:endParaRPr kumimoji="1" lang="en-US" altLang="ja-JP" sz="48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8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画像生成ユーザーインターフェース</a:t>
            </a:r>
            <a:r>
              <a:rPr kumimoji="1" lang="ja-JP" altLang="en-US" sz="4800">
                <a:latin typeface="Hiragino Sans W3" panose="020B0400000000000000" pitchFamily="34" charset="-128"/>
                <a:ea typeface="Hiragino Sans W3" panose="020B0400000000000000" pitchFamily="34" charset="-128"/>
              </a:rPr>
              <a:t>の開発</a:t>
            </a:r>
            <a:endParaRPr kumimoji="1" lang="en-US" altLang="ja-JP" sz="48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EF70EDA-DA27-03A0-FCB8-E5D440EA0FF5}"/>
              </a:ext>
            </a:extLst>
          </p:cNvPr>
          <p:cNvSpPr txBox="1"/>
          <p:nvPr/>
        </p:nvSpPr>
        <p:spPr>
          <a:xfrm>
            <a:off x="1416012" y="21974833"/>
            <a:ext cx="11931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</a:rPr>
              <a:t>一般的なテキスト入力を行う</a:t>
            </a:r>
            <a:r>
              <a:rPr kumimoji="1" lang="en-US" altLang="ja-JP" sz="5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</a:rPr>
              <a:t>UI </a:t>
            </a:r>
            <a:r>
              <a:rPr kumimoji="1" lang="en-US" altLang="ja-JP" sz="5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3" panose="020B0400000000000000" pitchFamily="34" charset="-128"/>
                <a:ea typeface="Hiragino Sans W3" panose="020B0400000000000000" pitchFamily="34" charset="-128"/>
              </a:rPr>
              <a:t>[3,4]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D44D60-C3EC-8BAB-385A-C61094A934BC}"/>
              </a:ext>
            </a:extLst>
          </p:cNvPr>
          <p:cNvSpPr txBox="1"/>
          <p:nvPr/>
        </p:nvSpPr>
        <p:spPr>
          <a:xfrm>
            <a:off x="2426345" y="26844913"/>
            <a:ext cx="1203406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>
                <a:latin typeface="Hiragino Sans W3" panose="020B0400000000000000" pitchFamily="34" charset="-128"/>
                <a:ea typeface="Hiragino Sans W3" panose="020B0400000000000000" pitchFamily="34" charset="-128"/>
              </a:rPr>
              <a:t>ランダムに未選択タグを条件に追加することで</a:t>
            </a:r>
            <a:endParaRPr kumimoji="1" lang="en-US" altLang="ja-JP" sz="4400" dirty="0"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生成結果の</a:t>
            </a:r>
            <a:r>
              <a:rPr kumimoji="1" lang="ja-JP" altLang="en-US" sz="4400" b="1">
                <a:solidFill>
                  <a:srgbClr val="0070C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制御性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</a:t>
            </a:r>
            <a:r>
              <a:rPr kumimoji="1" lang="ja-JP" altLang="en-US" sz="44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意外性</a:t>
            </a:r>
            <a:r>
              <a:rPr kumimoji="1" lang="ja-JP" altLang="en-US" sz="44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を両立</a:t>
            </a:r>
            <a:endParaRPr kumimoji="1" lang="en-US" altLang="ja-JP" sz="44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D53B0C8-91CE-1C22-8072-2E7156F01EBC}"/>
              </a:ext>
            </a:extLst>
          </p:cNvPr>
          <p:cNvSpPr txBox="1"/>
          <p:nvPr/>
        </p:nvSpPr>
        <p:spPr>
          <a:xfrm>
            <a:off x="1416012" y="25826400"/>
            <a:ext cx="11349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</a:rPr>
              <a:t>タグ選択で条件入力を行う</a:t>
            </a:r>
            <a:r>
              <a:rPr kumimoji="1" lang="en-US" altLang="ja-JP" sz="5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</a:rPr>
              <a:t>UI</a:t>
            </a:r>
            <a:r>
              <a:rPr kumimoji="1" lang="ja-JP" altLang="en-US" sz="5400" b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</a:rPr>
              <a:t>を</a:t>
            </a:r>
            <a:r>
              <a:rPr kumimoji="1" lang="ja-JP" altLang="en-US" sz="5400" b="1">
                <a:solidFill>
                  <a:prstClr val="black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提案</a:t>
            </a:r>
            <a:endParaRPr kumimoji="1" lang="en-US" altLang="ja-JP" sz="54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08F59F7B-AD29-A104-CA1A-60B30E686421}"/>
              </a:ext>
            </a:extLst>
          </p:cNvPr>
          <p:cNvSpPr/>
          <p:nvPr/>
        </p:nvSpPr>
        <p:spPr>
          <a:xfrm>
            <a:off x="1895688" y="12772828"/>
            <a:ext cx="1621102" cy="1569660"/>
          </a:xfrm>
          <a:prstGeom prst="rightArrow">
            <a:avLst/>
          </a:prstGeom>
          <a:solidFill>
            <a:srgbClr val="3E38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右矢印 26">
            <a:extLst>
              <a:ext uri="{FF2B5EF4-FFF2-40B4-BE49-F238E27FC236}">
                <a16:creationId xmlns:a16="http://schemas.microsoft.com/office/drawing/2014/main" id="{3B0C8D86-74BE-A4C0-7861-BDB4ED7E1CD7}"/>
              </a:ext>
            </a:extLst>
          </p:cNvPr>
          <p:cNvSpPr/>
          <p:nvPr/>
        </p:nvSpPr>
        <p:spPr>
          <a:xfrm rot="5400000">
            <a:off x="6416580" y="23856886"/>
            <a:ext cx="1180865" cy="2547948"/>
          </a:xfrm>
          <a:prstGeom prst="rightArrow">
            <a:avLst/>
          </a:prstGeom>
          <a:solidFill>
            <a:srgbClr val="3E38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2E2CBBC-6B79-2E09-1FAB-59BD6A0C4454}"/>
              </a:ext>
            </a:extLst>
          </p:cNvPr>
          <p:cNvSpPr/>
          <p:nvPr/>
        </p:nvSpPr>
        <p:spPr>
          <a:xfrm>
            <a:off x="571067" y="30583008"/>
            <a:ext cx="13234283" cy="799012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6BBB473-33C9-6967-5E56-B7923CE1F803}"/>
              </a:ext>
            </a:extLst>
          </p:cNvPr>
          <p:cNvSpPr/>
          <p:nvPr/>
        </p:nvSpPr>
        <p:spPr>
          <a:xfrm>
            <a:off x="571067" y="29005206"/>
            <a:ext cx="13234283" cy="1519200"/>
          </a:xfrm>
          <a:prstGeom prst="rect">
            <a:avLst/>
          </a:prstGeom>
          <a:solidFill>
            <a:srgbClr val="3F389E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TEZUKA2023</a:t>
            </a:r>
            <a:r>
              <a:rPr kumimoji="1" lang="ja-JP" altLang="en-US" sz="6600">
                <a:latin typeface="Hiragino Sans W4" panose="020B0400000000000000" pitchFamily="34" charset="-128"/>
                <a:ea typeface="Hiragino Sans W4" panose="020B0400000000000000" pitchFamily="34" charset="-128"/>
              </a:rPr>
              <a:t>における創作支援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3A7A3DF-53E3-9CA7-D8FB-FCACC0116333}"/>
              </a:ext>
            </a:extLst>
          </p:cNvPr>
          <p:cNvSpPr txBox="1"/>
          <p:nvPr/>
        </p:nvSpPr>
        <p:spPr>
          <a:xfrm>
            <a:off x="995177" y="30645980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6" panose="020B0400000000000000" pitchFamily="34" charset="-128"/>
                <a:ea typeface="Hiragino Sans W6" panose="020B0400000000000000" pitchFamily="34" charset="-128"/>
              </a:rPr>
              <a:t>設定：義体化した若い女性</a:t>
            </a:r>
            <a:endParaRPr kumimoji="1" lang="en-US" altLang="ja-JP" sz="48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BE6447CB-280D-3339-AE95-26E176BAB28E}"/>
              </a:ext>
            </a:extLst>
          </p:cNvPr>
          <p:cNvCxnSpPr>
            <a:cxnSpLocks/>
          </p:cNvCxnSpPr>
          <p:nvPr/>
        </p:nvCxnSpPr>
        <p:spPr>
          <a:xfrm>
            <a:off x="23003965" y="31677770"/>
            <a:ext cx="0" cy="4835635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">
            <a:extLst>
              <a:ext uri="{FF2B5EF4-FFF2-40B4-BE49-F238E27FC236}">
                <a16:creationId xmlns:a16="http://schemas.microsoft.com/office/drawing/2014/main" id="{70F30996-4ADE-EF74-EC3E-598A1BF180A5}"/>
              </a:ext>
            </a:extLst>
          </p:cNvPr>
          <p:cNvSpPr txBox="1"/>
          <p:nvPr/>
        </p:nvSpPr>
        <p:spPr>
          <a:xfrm>
            <a:off x="995177" y="31525194"/>
            <a:ext cx="7269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©TEZUKA2023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プロジェクト</a:t>
            </a:r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/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手塚プロダクション</a:t>
            </a: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3B13596B-6E6D-F223-F241-1A4D9AFCFA9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5960" y="33312664"/>
            <a:ext cx="3338298" cy="3387151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2C1C7313-1838-EE40-C783-119A90EACF0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890" y="31963030"/>
            <a:ext cx="3225148" cy="2546169"/>
          </a:xfrm>
          <a:prstGeom prst="rect">
            <a:avLst/>
          </a:prstGeom>
        </p:spPr>
      </p:pic>
      <p:pic>
        <p:nvPicPr>
          <p:cNvPr id="69" name="図 68">
            <a:extLst>
              <a:ext uri="{FF2B5EF4-FFF2-40B4-BE49-F238E27FC236}">
                <a16:creationId xmlns:a16="http://schemas.microsoft.com/office/drawing/2014/main" id="{292FC9F4-8083-0F93-11D7-19575079F0B3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890" y="34532345"/>
            <a:ext cx="3225148" cy="3385262"/>
          </a:xfrm>
          <a:prstGeom prst="rect">
            <a:avLst/>
          </a:prstGeom>
        </p:spPr>
      </p:pic>
      <p:pic>
        <p:nvPicPr>
          <p:cNvPr id="70" name="図 69">
            <a:extLst>
              <a:ext uri="{FF2B5EF4-FFF2-40B4-BE49-F238E27FC236}">
                <a16:creationId xmlns:a16="http://schemas.microsoft.com/office/drawing/2014/main" id="{AC819FAB-4427-2316-2602-F544E3FD57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764" y="31317303"/>
            <a:ext cx="4149056" cy="6480429"/>
          </a:xfrm>
          <a:prstGeom prst="rect">
            <a:avLst/>
          </a:prstGeom>
        </p:spPr>
      </p:pic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4278D09C-7DD7-BB91-3290-D0C3D125E786}"/>
              </a:ext>
            </a:extLst>
          </p:cNvPr>
          <p:cNvSpPr txBox="1"/>
          <p:nvPr/>
        </p:nvSpPr>
        <p:spPr>
          <a:xfrm>
            <a:off x="1709446" y="3677227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Hiragino Sans W3" panose="020B0400000000000000" pitchFamily="34" charset="-128"/>
                <a:ea typeface="Hiragino Sans W3" panose="020B0400000000000000" pitchFamily="34" charset="-128"/>
              </a:rPr>
              <a:t>生成画像</a:t>
            </a:r>
          </a:p>
        </p:txBody>
      </p:sp>
      <p:sp>
        <p:nvSpPr>
          <p:cNvPr id="82" name="右矢印 81">
            <a:extLst>
              <a:ext uri="{FF2B5EF4-FFF2-40B4-BE49-F238E27FC236}">
                <a16:creationId xmlns:a16="http://schemas.microsoft.com/office/drawing/2014/main" id="{6E724082-2D33-92A5-0333-B53DB4E944A2}"/>
              </a:ext>
            </a:extLst>
          </p:cNvPr>
          <p:cNvSpPr/>
          <p:nvPr/>
        </p:nvSpPr>
        <p:spPr bwMode="auto">
          <a:xfrm>
            <a:off x="4738175" y="34009643"/>
            <a:ext cx="1298185" cy="2013973"/>
          </a:xfrm>
          <a:prstGeom prst="rightArrow">
            <a:avLst/>
          </a:prstGeom>
          <a:solidFill>
            <a:srgbClr val="3E389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1366039E-A87F-5D70-7F20-78E18DA81F94}"/>
              </a:ext>
            </a:extLst>
          </p:cNvPr>
          <p:cNvSpPr txBox="1"/>
          <p:nvPr/>
        </p:nvSpPr>
        <p:spPr>
          <a:xfrm>
            <a:off x="5707068" y="37799592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Hiragino Sans W3" panose="020B0400000000000000" pitchFamily="34" charset="-128"/>
                <a:ea typeface="Hiragino Sans W3" panose="020B0400000000000000" pitchFamily="34" charset="-128"/>
              </a:rPr>
              <a:t>クリエイターによる最終的なデザイン</a:t>
            </a:r>
          </a:p>
        </p:txBody>
      </p:sp>
    </p:spTree>
    <p:extLst>
      <p:ext uri="{BB962C8B-B14F-4D97-AF65-F5344CB8AC3E}">
        <p14:creationId xmlns:p14="http://schemas.microsoft.com/office/powerpoint/2010/main" val="167359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13019</TotalTime>
  <Words>2756</Words>
  <Application>Microsoft Macintosh PowerPoint</Application>
  <PresentationFormat>ユーザー設定</PresentationFormat>
  <Paragraphs>348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Hiragino Sans W3</vt:lpstr>
      <vt:lpstr>Hiragino Sans W4</vt:lpstr>
      <vt:lpstr>Hiragino Sans W6</vt:lpstr>
      <vt:lpstr>Söhne</vt:lpstr>
      <vt:lpstr>Aptos</vt:lpstr>
      <vt:lpstr>Aptos Display</vt:lpstr>
      <vt:lpstr>Arial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北川 峻</dc:creator>
  <cp:lastModifiedBy>北川 峻</cp:lastModifiedBy>
  <cp:revision>47</cp:revision>
  <dcterms:created xsi:type="dcterms:W3CDTF">2024-04-23T03:42:56Z</dcterms:created>
  <dcterms:modified xsi:type="dcterms:W3CDTF">2024-05-07T09:23:59Z</dcterms:modified>
</cp:coreProperties>
</file>